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4740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7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7FE"/>
          </a:solidFill>
          <a:ln w="12700">
            <a:solidFill>
              <a:srgbClr val="F3F7FE"/>
            </a:solidFill>
            <a:prstDash val="solid"/>
          </a:ln>
        </p:spPr>
        <p:txBody>
          <a:bodyPr/>
          <a:lstStyle/>
          <a:p>
            <a:endParaRPr lang="ja-JP" altLang="en-US"/>
          </a:p>
        </p:txBody>
      </p:sp>
      <p:sp>
        <p:nvSpPr>
          <p:cNvPr id="3" name="Shape 1"/>
          <p:cNvSpPr/>
          <p:nvPr/>
        </p:nvSpPr>
        <p:spPr>
          <a:xfrm>
            <a:off x="0" y="0"/>
            <a:ext cx="256032" cy="6858000"/>
          </a:xfrm>
          <a:prstGeom prst="rect">
            <a:avLst/>
          </a:prstGeom>
          <a:solidFill>
            <a:srgbClr val="2F6BFF"/>
          </a:solidFill>
          <a:ln w="12700">
            <a:solidFill>
              <a:srgbClr val="2F6BFF"/>
            </a:solidFill>
            <a:prstDash val="solid"/>
          </a:ln>
        </p:spPr>
        <p:txBody>
          <a:bodyPr/>
          <a:lstStyle/>
          <a:p>
            <a:endParaRPr lang="ja-JP" altLang="en-US"/>
          </a:p>
        </p:txBody>
      </p:sp>
      <p:sp>
        <p:nvSpPr>
          <p:cNvPr id="4" name="Text 2"/>
          <p:cNvSpPr/>
          <p:nvPr/>
        </p:nvSpPr>
        <p:spPr>
          <a:xfrm>
            <a:off x="749808" y="1005840"/>
            <a:ext cx="5669280" cy="1554480"/>
          </a:xfrm>
          <a:prstGeom prst="rect">
            <a:avLst/>
          </a:prstGeom>
          <a:noFill/>
          <a:ln/>
        </p:spPr>
        <p:txBody>
          <a:bodyPr wrap="square" lIns="0" tIns="0" rIns="0" bIns="0" rtlCol="0" anchor="ctr">
            <a:normAutofit/>
          </a:bodyPr>
          <a:lstStyle/>
          <a:p>
            <a:pPr marL="0" indent="0">
              <a:buNone/>
            </a:pPr>
            <a:r>
              <a:rPr lang="en-US" sz="3200" b="1" dirty="0">
                <a:solidFill>
                  <a:srgbClr val="1F2933"/>
                </a:solidFill>
                <a:latin typeface="Yu Gothic" pitchFamily="34" charset="0"/>
                <a:ea typeface="Yu Gothic" pitchFamily="34" charset="-122"/>
                <a:cs typeface="Yu Gothic" pitchFamily="34" charset="-120"/>
              </a:rPr>
              <a:t>情報通信</a:t>
            </a:r>
            <a:endParaRPr lang="en-US" sz="3200" dirty="0"/>
          </a:p>
          <a:p>
            <a:pPr marL="0" indent="0">
              <a:buNone/>
            </a:pPr>
            <a:r>
              <a:rPr lang="en-US" sz="3200" b="1" dirty="0">
                <a:solidFill>
                  <a:srgbClr val="1F2933"/>
                </a:solidFill>
                <a:latin typeface="Yu Gothic" pitchFamily="34" charset="0"/>
                <a:ea typeface="Yu Gothic" pitchFamily="34" charset="-122"/>
                <a:cs typeface="Yu Gothic" pitchFamily="34" charset="-120"/>
              </a:rPr>
              <a:t>シミュレーション</a:t>
            </a:r>
            <a:endParaRPr lang="en-US" sz="3200" dirty="0"/>
          </a:p>
        </p:txBody>
      </p:sp>
      <p:sp>
        <p:nvSpPr>
          <p:cNvPr id="5" name="Text 3"/>
          <p:cNvSpPr/>
          <p:nvPr/>
        </p:nvSpPr>
        <p:spPr>
          <a:xfrm>
            <a:off x="786384" y="2788920"/>
            <a:ext cx="5852160" cy="310896"/>
          </a:xfrm>
          <a:prstGeom prst="rect">
            <a:avLst/>
          </a:prstGeom>
          <a:noFill/>
          <a:ln/>
        </p:spPr>
        <p:txBody>
          <a:bodyPr wrap="square" lIns="0" tIns="0" rIns="0" bIns="0" rtlCol="0" anchor="ctr"/>
          <a:lstStyle/>
          <a:p>
            <a:pPr marL="0" indent="0">
              <a:buNone/>
            </a:pPr>
            <a:r>
              <a:rPr lang="en-US" sz="1300" dirty="0">
                <a:solidFill>
                  <a:srgbClr val="5B677A"/>
                </a:solidFill>
                <a:latin typeface="Yu Gothic" pitchFamily="34" charset="0"/>
                <a:ea typeface="Yu Gothic" pitchFamily="34" charset="-122"/>
                <a:cs typeface="Yu Gothic" pitchFamily="34" charset="-120"/>
              </a:rPr>
              <a:t>Random Waypoint による端末移動と情報拡散の比較（20回平均）</a:t>
            </a:r>
            <a:endParaRPr lang="en-US" sz="1300" dirty="0"/>
          </a:p>
        </p:txBody>
      </p:sp>
      <p:sp>
        <p:nvSpPr>
          <p:cNvPr id="6" name="Shape 4"/>
          <p:cNvSpPr/>
          <p:nvPr/>
        </p:nvSpPr>
        <p:spPr>
          <a:xfrm>
            <a:off x="786384" y="3337560"/>
            <a:ext cx="2057400" cy="329184"/>
          </a:xfrm>
          <a:prstGeom prst="roundRect">
            <a:avLst>
              <a:gd name="adj" fmla="val 22222"/>
            </a:avLst>
          </a:prstGeom>
          <a:solidFill>
            <a:srgbClr val="2F6BFF"/>
          </a:solidFill>
          <a:ln w="12700">
            <a:solidFill>
              <a:srgbClr val="2F6BFF"/>
            </a:solidFill>
            <a:prstDash val="solid"/>
          </a:ln>
        </p:spPr>
        <p:txBody>
          <a:bodyPr/>
          <a:lstStyle/>
          <a:p>
            <a:endParaRPr lang="ja-JP" altLang="en-US"/>
          </a:p>
        </p:txBody>
      </p:sp>
      <p:sp>
        <p:nvSpPr>
          <p:cNvPr id="7" name="Text 5"/>
          <p:cNvSpPr/>
          <p:nvPr/>
        </p:nvSpPr>
        <p:spPr>
          <a:xfrm>
            <a:off x="896112" y="3424428"/>
            <a:ext cx="1837944" cy="118872"/>
          </a:xfrm>
          <a:prstGeom prst="rect">
            <a:avLst/>
          </a:prstGeom>
          <a:noFill/>
          <a:ln/>
        </p:spPr>
        <p:txBody>
          <a:bodyPr wrap="square" lIns="0" tIns="0" rIns="0" bIns="0" rtlCol="0" anchor="ctr">
            <a:normAutofit lnSpcReduction="10000"/>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1000m x 1000m</a:t>
            </a:r>
            <a:endParaRPr lang="en-US" sz="850" dirty="0"/>
          </a:p>
        </p:txBody>
      </p:sp>
      <p:sp>
        <p:nvSpPr>
          <p:cNvPr id="8" name="Shape 6"/>
          <p:cNvSpPr/>
          <p:nvPr/>
        </p:nvSpPr>
        <p:spPr>
          <a:xfrm>
            <a:off x="2999232" y="3337560"/>
            <a:ext cx="2057400" cy="329184"/>
          </a:xfrm>
          <a:prstGeom prst="roundRect">
            <a:avLst>
              <a:gd name="adj" fmla="val 22222"/>
            </a:avLst>
          </a:prstGeom>
          <a:solidFill>
            <a:srgbClr val="1E8E5A"/>
          </a:solidFill>
          <a:ln w="12700">
            <a:solidFill>
              <a:srgbClr val="1E8E5A"/>
            </a:solidFill>
            <a:prstDash val="solid"/>
          </a:ln>
        </p:spPr>
        <p:txBody>
          <a:bodyPr/>
          <a:lstStyle/>
          <a:p>
            <a:endParaRPr lang="ja-JP" altLang="en-US"/>
          </a:p>
        </p:txBody>
      </p:sp>
      <p:sp>
        <p:nvSpPr>
          <p:cNvPr id="9" name="Text 7"/>
          <p:cNvSpPr/>
          <p:nvPr/>
        </p:nvSpPr>
        <p:spPr>
          <a:xfrm>
            <a:off x="3108960" y="3424428"/>
            <a:ext cx="1837944" cy="118872"/>
          </a:xfrm>
          <a:prstGeom prst="rect">
            <a:avLst/>
          </a:prstGeom>
          <a:noFill/>
          <a:ln/>
        </p:spPr>
        <p:txBody>
          <a:bodyPr wrap="square" lIns="0" tIns="0" rIns="0" bIns="0" rtlCol="0" anchor="ctr">
            <a:normAutofit lnSpcReduction="10000"/>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1000 time steps</a:t>
            </a:r>
            <a:endParaRPr lang="en-US" sz="850" dirty="0"/>
          </a:p>
        </p:txBody>
      </p:sp>
      <p:sp>
        <p:nvSpPr>
          <p:cNvPr id="10" name="Shape 8"/>
          <p:cNvSpPr/>
          <p:nvPr/>
        </p:nvSpPr>
        <p:spPr>
          <a:xfrm>
            <a:off x="5212080" y="3337560"/>
            <a:ext cx="2057400" cy="329184"/>
          </a:xfrm>
          <a:prstGeom prst="roundRect">
            <a:avLst>
              <a:gd name="adj" fmla="val 22222"/>
            </a:avLst>
          </a:prstGeom>
          <a:solidFill>
            <a:srgbClr val="F07C24"/>
          </a:solidFill>
          <a:ln w="12700">
            <a:solidFill>
              <a:srgbClr val="F07C24"/>
            </a:solidFill>
            <a:prstDash val="solid"/>
          </a:ln>
        </p:spPr>
        <p:txBody>
          <a:bodyPr/>
          <a:lstStyle/>
          <a:p>
            <a:endParaRPr lang="ja-JP" altLang="en-US"/>
          </a:p>
        </p:txBody>
      </p:sp>
      <p:sp>
        <p:nvSpPr>
          <p:cNvPr id="11" name="Text 9"/>
          <p:cNvSpPr/>
          <p:nvPr/>
        </p:nvSpPr>
        <p:spPr>
          <a:xfrm>
            <a:off x="5321808" y="3424428"/>
            <a:ext cx="1837944" cy="118872"/>
          </a:xfrm>
          <a:prstGeom prst="rect">
            <a:avLst/>
          </a:prstGeom>
          <a:noFill/>
          <a:ln/>
        </p:spPr>
        <p:txBody>
          <a:bodyPr wrap="square" lIns="0" tIns="0" rIns="0" bIns="0" rtlCol="0" anchor="ctr">
            <a:normAutofit lnSpcReduction="10000"/>
          </a:bodyPr>
          <a:lstStyle/>
          <a:p>
            <a:pPr marL="0" indent="0" algn="ctr">
              <a:buNone/>
            </a:pPr>
            <a:r>
              <a:rPr lang="en-US" sz="850" b="1" dirty="0">
                <a:solidFill>
                  <a:srgbClr val="FFFFFF"/>
                </a:solidFill>
                <a:latin typeface="Yu Gothic" pitchFamily="34" charset="0"/>
                <a:ea typeface="Yu Gothic" pitchFamily="34" charset="-122"/>
                <a:cs typeface="Yu Gothic" pitchFamily="34" charset="-120"/>
              </a:rPr>
              <a:t>50 / 100 / 150m</a:t>
            </a:r>
            <a:endParaRPr lang="en-US" sz="850" dirty="0"/>
          </a:p>
        </p:txBody>
      </p:sp>
      <p:sp>
        <p:nvSpPr>
          <p:cNvPr id="12" name="Shape 10"/>
          <p:cNvSpPr/>
          <p:nvPr/>
        </p:nvSpPr>
        <p:spPr>
          <a:xfrm>
            <a:off x="7406640" y="777240"/>
            <a:ext cx="0" cy="5349240"/>
          </a:xfrm>
          <a:prstGeom prst="line">
            <a:avLst/>
          </a:prstGeom>
          <a:noFill/>
          <a:ln w="12700">
            <a:solidFill>
              <a:srgbClr val="D7DEE8"/>
            </a:solidFill>
            <a:prstDash val="solid"/>
          </a:ln>
        </p:spPr>
        <p:txBody>
          <a:bodyPr/>
          <a:lstStyle/>
          <a:p>
            <a:endParaRPr lang="ja-JP" altLang="en-US"/>
          </a:p>
        </p:txBody>
      </p:sp>
      <p:sp>
        <p:nvSpPr>
          <p:cNvPr id="13" name="Text 11"/>
          <p:cNvSpPr/>
          <p:nvPr/>
        </p:nvSpPr>
        <p:spPr>
          <a:xfrm>
            <a:off x="7845552" y="1207008"/>
            <a:ext cx="1920240" cy="438912"/>
          </a:xfrm>
          <a:prstGeom prst="rect">
            <a:avLst/>
          </a:prstGeom>
          <a:noFill/>
          <a:ln/>
        </p:spPr>
        <p:txBody>
          <a:bodyPr wrap="square" lIns="0" tIns="0" rIns="0" bIns="0" rtlCol="0" anchor="ctr">
            <a:normAutofit/>
          </a:bodyPr>
          <a:lstStyle/>
          <a:p>
            <a:pPr marL="0" indent="0">
              <a:buNone/>
            </a:pPr>
            <a:r>
              <a:rPr lang="en-US" sz="2400" b="1" dirty="0">
                <a:solidFill>
                  <a:srgbClr val="2F6BFF"/>
                </a:solidFill>
                <a:latin typeface="Yu Gothic" pitchFamily="34" charset="0"/>
                <a:ea typeface="Yu Gothic" pitchFamily="34" charset="-122"/>
                <a:cs typeface="Yu Gothic" pitchFamily="34" charset="-120"/>
              </a:rPr>
              <a:t>20</a:t>
            </a:r>
            <a:endParaRPr lang="en-US" sz="2400" dirty="0"/>
          </a:p>
        </p:txBody>
      </p:sp>
      <p:sp>
        <p:nvSpPr>
          <p:cNvPr id="14" name="Text 12"/>
          <p:cNvSpPr/>
          <p:nvPr/>
        </p:nvSpPr>
        <p:spPr>
          <a:xfrm>
            <a:off x="7845552" y="1645920"/>
            <a:ext cx="2148840" cy="219456"/>
          </a:xfrm>
          <a:prstGeom prst="rect">
            <a:avLst/>
          </a:prstGeom>
          <a:noFill/>
          <a:ln/>
        </p:spPr>
        <p:txBody>
          <a:bodyPr wrap="square" lIns="0" tIns="0" rIns="0" bIns="0" rtlCol="0" anchor="ctr">
            <a:normAutofit/>
          </a:bodyPr>
          <a:lstStyle/>
          <a:p>
            <a:pPr marL="0" indent="0">
              <a:buNone/>
            </a:pPr>
            <a:r>
              <a:rPr lang="en-US" sz="880" dirty="0">
                <a:solidFill>
                  <a:srgbClr val="5B677A"/>
                </a:solidFill>
                <a:latin typeface="Yu Gothic" pitchFamily="34" charset="0"/>
                <a:ea typeface="Yu Gothic" pitchFamily="34" charset="-122"/>
                <a:cs typeface="Yu Gothic" pitchFamily="34" charset="-120"/>
              </a:rPr>
              <a:t>端末数（基本実験）</a:t>
            </a:r>
            <a:endParaRPr lang="en-US" sz="880" dirty="0"/>
          </a:p>
        </p:txBody>
      </p:sp>
      <p:sp>
        <p:nvSpPr>
          <p:cNvPr id="15" name="Text 13"/>
          <p:cNvSpPr/>
          <p:nvPr/>
        </p:nvSpPr>
        <p:spPr>
          <a:xfrm>
            <a:off x="9784080" y="1207008"/>
            <a:ext cx="1920240" cy="438912"/>
          </a:xfrm>
          <a:prstGeom prst="rect">
            <a:avLst/>
          </a:prstGeom>
          <a:noFill/>
          <a:ln/>
        </p:spPr>
        <p:txBody>
          <a:bodyPr wrap="square" lIns="0" tIns="0" rIns="0" bIns="0" rtlCol="0" anchor="ctr">
            <a:normAutofit/>
          </a:bodyPr>
          <a:lstStyle/>
          <a:p>
            <a:pPr marL="0" indent="0">
              <a:buNone/>
            </a:pPr>
            <a:r>
              <a:rPr lang="en-US" sz="2400" b="1" dirty="0">
                <a:solidFill>
                  <a:srgbClr val="1E8E5A"/>
                </a:solidFill>
                <a:latin typeface="Yu Gothic" pitchFamily="34" charset="0"/>
                <a:ea typeface="Yu Gothic" pitchFamily="34" charset="-122"/>
                <a:cs typeface="Yu Gothic" pitchFamily="34" charset="-120"/>
              </a:rPr>
              <a:t>10m</a:t>
            </a:r>
            <a:endParaRPr lang="en-US" sz="2400" dirty="0"/>
          </a:p>
        </p:txBody>
      </p:sp>
      <p:sp>
        <p:nvSpPr>
          <p:cNvPr id="16" name="Text 14"/>
          <p:cNvSpPr/>
          <p:nvPr/>
        </p:nvSpPr>
        <p:spPr>
          <a:xfrm>
            <a:off x="9784080" y="1645920"/>
            <a:ext cx="2148840" cy="219456"/>
          </a:xfrm>
          <a:prstGeom prst="rect">
            <a:avLst/>
          </a:prstGeom>
          <a:noFill/>
          <a:ln/>
        </p:spPr>
        <p:txBody>
          <a:bodyPr wrap="square" lIns="0" tIns="0" rIns="0" bIns="0" rtlCol="0" anchor="ctr">
            <a:normAutofit/>
          </a:bodyPr>
          <a:lstStyle/>
          <a:p>
            <a:pPr marL="0" indent="0">
              <a:buNone/>
            </a:pPr>
            <a:r>
              <a:rPr lang="en-US" sz="880" dirty="0">
                <a:solidFill>
                  <a:srgbClr val="5B677A"/>
                </a:solidFill>
                <a:latin typeface="Yu Gothic" pitchFamily="34" charset="0"/>
                <a:ea typeface="Yu Gothic" pitchFamily="34" charset="-122"/>
                <a:cs typeface="Yu Gothic" pitchFamily="34" charset="-120"/>
              </a:rPr>
              <a:t>移動速度</a:t>
            </a:r>
            <a:endParaRPr lang="en-US" sz="880" dirty="0"/>
          </a:p>
        </p:txBody>
      </p:sp>
      <p:sp>
        <p:nvSpPr>
          <p:cNvPr id="17" name="Text 15"/>
          <p:cNvSpPr/>
          <p:nvPr/>
        </p:nvSpPr>
        <p:spPr>
          <a:xfrm>
            <a:off x="7845552" y="2743200"/>
            <a:ext cx="1920240" cy="438912"/>
          </a:xfrm>
          <a:prstGeom prst="rect">
            <a:avLst/>
          </a:prstGeom>
          <a:noFill/>
          <a:ln/>
        </p:spPr>
        <p:txBody>
          <a:bodyPr wrap="square" lIns="0" tIns="0" rIns="0" bIns="0" rtlCol="0" anchor="ctr">
            <a:normAutofit/>
          </a:bodyPr>
          <a:lstStyle/>
          <a:p>
            <a:pPr marL="0" indent="0">
              <a:buNone/>
            </a:pPr>
            <a:r>
              <a:rPr lang="en-US" sz="2400" b="1" dirty="0">
                <a:solidFill>
                  <a:srgbClr val="F07C24"/>
                </a:solidFill>
                <a:latin typeface="Yu Gothic" pitchFamily="34" charset="0"/>
                <a:ea typeface="Yu Gothic" pitchFamily="34" charset="-122"/>
                <a:cs typeface="Yu Gothic" pitchFamily="34" charset="-120"/>
              </a:rPr>
              <a:t>100</a:t>
            </a:r>
            <a:endParaRPr lang="en-US" sz="2400" dirty="0"/>
          </a:p>
        </p:txBody>
      </p:sp>
      <p:sp>
        <p:nvSpPr>
          <p:cNvPr id="18" name="Text 16"/>
          <p:cNvSpPr/>
          <p:nvPr/>
        </p:nvSpPr>
        <p:spPr>
          <a:xfrm>
            <a:off x="7845552" y="3182112"/>
            <a:ext cx="2148840" cy="219456"/>
          </a:xfrm>
          <a:prstGeom prst="rect">
            <a:avLst/>
          </a:prstGeom>
          <a:noFill/>
          <a:ln/>
        </p:spPr>
        <p:txBody>
          <a:bodyPr wrap="square" lIns="0" tIns="0" rIns="0" bIns="0" rtlCol="0" anchor="ctr">
            <a:normAutofit/>
          </a:bodyPr>
          <a:lstStyle/>
          <a:p>
            <a:pPr marL="0" indent="0">
              <a:buNone/>
            </a:pPr>
            <a:r>
              <a:rPr lang="en-US" sz="880" dirty="0">
                <a:solidFill>
                  <a:srgbClr val="5B677A"/>
                </a:solidFill>
                <a:latin typeface="Yu Gothic" pitchFamily="34" charset="0"/>
                <a:ea typeface="Yu Gothic" pitchFamily="34" charset="-122"/>
                <a:cs typeface="Yu Gothic" pitchFamily="34" charset="-120"/>
              </a:rPr>
              <a:t>記録間隔</a:t>
            </a:r>
            <a:endParaRPr lang="en-US" sz="880" dirty="0"/>
          </a:p>
        </p:txBody>
      </p:sp>
      <p:sp>
        <p:nvSpPr>
          <p:cNvPr id="19" name="Text 17"/>
          <p:cNvSpPr/>
          <p:nvPr/>
        </p:nvSpPr>
        <p:spPr>
          <a:xfrm>
            <a:off x="9784080" y="2743200"/>
            <a:ext cx="1920240" cy="438912"/>
          </a:xfrm>
          <a:prstGeom prst="rect">
            <a:avLst/>
          </a:prstGeom>
          <a:noFill/>
          <a:ln/>
        </p:spPr>
        <p:txBody>
          <a:bodyPr wrap="square" lIns="0" tIns="0" rIns="0" bIns="0" rtlCol="0" anchor="ctr">
            <a:normAutofit/>
          </a:bodyPr>
          <a:lstStyle/>
          <a:p>
            <a:pPr marL="0" indent="0">
              <a:buNone/>
            </a:pPr>
            <a:r>
              <a:rPr lang="en-US" sz="2400" b="1" dirty="0">
                <a:solidFill>
                  <a:srgbClr val="2F6BFF"/>
                </a:solidFill>
                <a:latin typeface="Yu Gothic" pitchFamily="34" charset="0"/>
                <a:ea typeface="Yu Gothic" pitchFamily="34" charset="-122"/>
                <a:cs typeface="Yu Gothic" pitchFamily="34" charset="-120"/>
              </a:rPr>
              <a:t>N=100</a:t>
            </a:r>
            <a:endParaRPr lang="en-US" sz="2400" dirty="0"/>
          </a:p>
        </p:txBody>
      </p:sp>
      <p:sp>
        <p:nvSpPr>
          <p:cNvPr id="20" name="Text 18"/>
          <p:cNvSpPr/>
          <p:nvPr/>
        </p:nvSpPr>
        <p:spPr>
          <a:xfrm>
            <a:off x="9784080" y="3182112"/>
            <a:ext cx="2148840" cy="219456"/>
          </a:xfrm>
          <a:prstGeom prst="rect">
            <a:avLst/>
          </a:prstGeom>
          <a:noFill/>
          <a:ln/>
        </p:spPr>
        <p:txBody>
          <a:bodyPr wrap="square" lIns="0" tIns="0" rIns="0" bIns="0" rtlCol="0" anchor="ctr">
            <a:normAutofit/>
          </a:bodyPr>
          <a:lstStyle/>
          <a:p>
            <a:pPr marL="0" indent="0">
              <a:buNone/>
            </a:pPr>
            <a:r>
              <a:rPr lang="en-US" sz="880" dirty="0">
                <a:solidFill>
                  <a:srgbClr val="5B677A"/>
                </a:solidFill>
                <a:latin typeface="Yu Gothic" pitchFamily="34" charset="0"/>
                <a:ea typeface="Yu Gothic" pitchFamily="34" charset="-122"/>
                <a:cs typeface="Yu Gothic" pitchFamily="34" charset="-120"/>
              </a:rPr>
              <a:t>限定領域実験</a:t>
            </a:r>
            <a:endParaRPr lang="en-US" sz="880" dirty="0"/>
          </a:p>
        </p:txBody>
      </p:sp>
      <p:sp>
        <p:nvSpPr>
          <p:cNvPr id="21" name="Text 19"/>
          <p:cNvSpPr/>
          <p:nvPr/>
        </p:nvSpPr>
        <p:spPr>
          <a:xfrm>
            <a:off x="7845552" y="4681728"/>
            <a:ext cx="3611880" cy="530352"/>
          </a:xfrm>
          <a:prstGeom prst="rect">
            <a:avLst/>
          </a:prstGeom>
          <a:noFill/>
          <a:ln/>
        </p:spPr>
        <p:txBody>
          <a:bodyPr wrap="square" lIns="0" tIns="0" rIns="0" bIns="0" rtlCol="0" anchor="ctr">
            <a:normAutofit/>
          </a:bodyPr>
          <a:lstStyle/>
          <a:p>
            <a:pPr marL="0" indent="0">
              <a:buNone/>
            </a:pPr>
            <a:r>
              <a:rPr lang="en-US" sz="1300" b="1" dirty="0">
                <a:solidFill>
                  <a:srgbClr val="1F2933"/>
                </a:solidFill>
                <a:latin typeface="Yu Gothic" pitchFamily="34" charset="0"/>
                <a:ea typeface="Yu Gothic" pitchFamily="34" charset="-122"/>
                <a:cs typeface="Yu Gothic" pitchFamily="34" charset="-120"/>
              </a:rPr>
              <a:t>要点: 乱数によるばらつきを抑えるため、各条件を20回実行して平均値で比較する。</a:t>
            </a:r>
            <a:endParaRPr lang="en-US" sz="1300" dirty="0"/>
          </a:p>
        </p:txBody>
      </p:sp>
      <p:sp>
        <p:nvSpPr>
          <p:cNvPr id="22" name="Text 20"/>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実験設定</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シミュレーションの流れ</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端末をランダム配置し、Random Waypoint モデルで移動させながら受信済み端末数の平均を記録する。</a:t>
            </a:r>
            <a:endParaRPr lang="en-US" sz="1050" dirty="0"/>
          </a:p>
        </p:txBody>
      </p:sp>
      <p:sp>
        <p:nvSpPr>
          <p:cNvPr id="6" name="Text 4"/>
          <p:cNvSpPr/>
          <p:nvPr/>
        </p:nvSpPr>
        <p:spPr>
          <a:xfrm>
            <a:off x="685800" y="1691640"/>
            <a:ext cx="493776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実装している処理</a:t>
            </a:r>
            <a:endParaRPr lang="en-US" sz="1200" dirty="0"/>
          </a:p>
        </p:txBody>
      </p:sp>
      <p:sp>
        <p:nvSpPr>
          <p:cNvPr id="7" name="Text 5"/>
          <p:cNvSpPr/>
          <p:nvPr/>
        </p:nvSpPr>
        <p:spPr>
          <a:xfrm>
            <a:off x="685800" y="2075688"/>
            <a:ext cx="4937760" cy="345643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1000m x 1000m の領域に端末を配置する</a:t>
            </a:r>
            <a:endParaRPr lang="en-US" sz="1300" dirty="0"/>
          </a:p>
          <a:p>
            <a:r>
              <a:rPr lang="en-US" sz="1300" dirty="0">
                <a:solidFill>
                  <a:srgbClr val="1F2933"/>
                </a:solidFill>
                <a:latin typeface="Yu Gothic" pitchFamily="34" charset="0"/>
                <a:ea typeface="Yu Gothic" pitchFamily="34" charset="-122"/>
                <a:cs typeface="Yu Gothic" pitchFamily="34" charset="-120"/>
              </a:rPr>
              <a:t>端末同士が近づきすぎないよう最小距離を設定する</a:t>
            </a:r>
            <a:endParaRPr lang="en-US" sz="1300" dirty="0"/>
          </a:p>
          <a:p>
            <a:r>
              <a:rPr lang="en-US" sz="1300" dirty="0">
                <a:solidFill>
                  <a:srgbClr val="1F2933"/>
                </a:solidFill>
                <a:latin typeface="Yu Gothic" pitchFamily="34" charset="0"/>
                <a:ea typeface="Yu Gothic" pitchFamily="34" charset="-122"/>
                <a:cs typeface="Yu Gothic" pitchFamily="34" charset="-120"/>
              </a:rPr>
              <a:t>各端末はランダムな目的地へ等速 10m/単位時間で移動する</a:t>
            </a:r>
            <a:endParaRPr lang="en-US" sz="1300" dirty="0"/>
          </a:p>
          <a:p>
            <a:r>
              <a:rPr lang="en-US" sz="1300" dirty="0">
                <a:solidFill>
                  <a:srgbClr val="1F2933"/>
                </a:solidFill>
                <a:latin typeface="Yu Gothic" pitchFamily="34" charset="0"/>
                <a:ea typeface="Yu Gothic" pitchFamily="34" charset="-122"/>
                <a:cs typeface="Yu Gothic" pitchFamily="34" charset="-120"/>
              </a:rPr>
              <a:t>情報を持つ T0 から一定距離以内に入ると受信済みになる</a:t>
            </a:r>
            <a:endParaRPr lang="en-US" sz="1300" dirty="0"/>
          </a:p>
          <a:p>
            <a:r>
              <a:rPr lang="en-US" sz="1300" dirty="0">
                <a:solidFill>
                  <a:srgbClr val="1F2933"/>
                </a:solidFill>
                <a:latin typeface="Yu Gothic" pitchFamily="34" charset="0"/>
                <a:ea typeface="Yu Gothic" pitchFamily="34" charset="-122"/>
                <a:cs typeface="Yu Gothic" pitchFamily="34" charset="-120"/>
              </a:rPr>
              <a:t>各条件を20回実行し、時刻ごとの受信数を平均する</a:t>
            </a:r>
            <a:endParaRPr lang="en-US" sz="1300" dirty="0"/>
          </a:p>
        </p:txBody>
      </p:sp>
      <p:sp>
        <p:nvSpPr>
          <p:cNvPr id="8" name="Shape 6"/>
          <p:cNvSpPr/>
          <p:nvPr/>
        </p:nvSpPr>
        <p:spPr>
          <a:xfrm>
            <a:off x="6172200" y="1591056"/>
            <a:ext cx="5257800" cy="4069080"/>
          </a:xfrm>
          <a:prstGeom prst="rect">
            <a:avLst/>
          </a:prstGeom>
          <a:solidFill>
            <a:srgbClr val="FFFFFF"/>
          </a:solidFill>
          <a:ln w="12700">
            <a:solidFill>
              <a:srgbClr val="D7DEE8"/>
            </a:solidFill>
            <a:prstDash val="solid"/>
          </a:ln>
        </p:spPr>
        <p:txBody>
          <a:bodyPr/>
          <a:lstStyle/>
          <a:p>
            <a:endParaRPr lang="ja-JP" altLang="en-US"/>
          </a:p>
        </p:txBody>
      </p:sp>
      <p:sp>
        <p:nvSpPr>
          <p:cNvPr id="9" name="Shape 7"/>
          <p:cNvSpPr/>
          <p:nvPr/>
        </p:nvSpPr>
        <p:spPr>
          <a:xfrm>
            <a:off x="6537960" y="1874520"/>
            <a:ext cx="384048" cy="384048"/>
          </a:xfrm>
          <a:prstGeom prst="ellipse">
            <a:avLst/>
          </a:prstGeom>
          <a:solidFill>
            <a:srgbClr val="2F6BFF"/>
          </a:solidFill>
          <a:ln w="12700">
            <a:solidFill>
              <a:srgbClr val="2F6BFF"/>
            </a:solidFill>
            <a:prstDash val="solid"/>
          </a:ln>
        </p:spPr>
        <p:txBody>
          <a:bodyPr/>
          <a:lstStyle/>
          <a:p>
            <a:endParaRPr lang="ja-JP" altLang="en-US"/>
          </a:p>
        </p:txBody>
      </p:sp>
      <p:sp>
        <p:nvSpPr>
          <p:cNvPr id="10" name="Text 8"/>
          <p:cNvSpPr/>
          <p:nvPr/>
        </p:nvSpPr>
        <p:spPr>
          <a:xfrm>
            <a:off x="6537960" y="197510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Yu Gothic" pitchFamily="34" charset="0"/>
                <a:ea typeface="Yu Gothic" pitchFamily="34" charset="-122"/>
                <a:cs typeface="Yu Gothic" pitchFamily="34" charset="-120"/>
              </a:rPr>
              <a:t>1</a:t>
            </a:r>
            <a:endParaRPr lang="en-US" sz="900" dirty="0"/>
          </a:p>
        </p:txBody>
      </p:sp>
      <p:sp>
        <p:nvSpPr>
          <p:cNvPr id="11" name="Text 9"/>
          <p:cNvSpPr/>
          <p:nvPr/>
        </p:nvSpPr>
        <p:spPr>
          <a:xfrm>
            <a:off x="7114032" y="1847088"/>
            <a:ext cx="1828800" cy="219456"/>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初期配置</a:t>
            </a:r>
            <a:endParaRPr lang="en-US" sz="1200" dirty="0"/>
          </a:p>
        </p:txBody>
      </p:sp>
      <p:sp>
        <p:nvSpPr>
          <p:cNvPr id="12" name="Text 10"/>
          <p:cNvSpPr/>
          <p:nvPr/>
        </p:nvSpPr>
        <p:spPr>
          <a:xfrm>
            <a:off x="7114032" y="2130552"/>
            <a:ext cx="3566160" cy="201168"/>
          </a:xfrm>
          <a:prstGeom prst="rect">
            <a:avLst/>
          </a:prstGeom>
          <a:noFill/>
          <a:ln/>
        </p:spPr>
        <p:txBody>
          <a:bodyPr wrap="square" lIns="0" tIns="0" rIns="0" bIns="0" rtlCol="0" anchor="ctr"/>
          <a:lstStyle/>
          <a:p>
            <a:pPr marL="0" indent="0">
              <a:buNone/>
            </a:pPr>
            <a:r>
              <a:rPr lang="en-US" sz="950" dirty="0">
                <a:solidFill>
                  <a:srgbClr val="5B677A"/>
                </a:solidFill>
                <a:latin typeface="Yu Gothic" pitchFamily="34" charset="0"/>
                <a:ea typeface="Yu Gothic" pitchFamily="34" charset="-122"/>
                <a:cs typeface="Yu Gothic" pitchFamily="34" charset="-120"/>
              </a:rPr>
              <a:t>20点をランダム配置</a:t>
            </a:r>
            <a:endParaRPr lang="en-US" sz="950" dirty="0"/>
          </a:p>
        </p:txBody>
      </p:sp>
      <p:sp>
        <p:nvSpPr>
          <p:cNvPr id="13" name="Shape 11"/>
          <p:cNvSpPr/>
          <p:nvPr/>
        </p:nvSpPr>
        <p:spPr>
          <a:xfrm>
            <a:off x="6537960" y="2697480"/>
            <a:ext cx="384048" cy="384048"/>
          </a:xfrm>
          <a:prstGeom prst="ellipse">
            <a:avLst/>
          </a:prstGeom>
          <a:solidFill>
            <a:srgbClr val="2F6BFF"/>
          </a:solidFill>
          <a:ln w="12700">
            <a:solidFill>
              <a:srgbClr val="2F6BFF"/>
            </a:solidFill>
            <a:prstDash val="solid"/>
          </a:ln>
        </p:spPr>
        <p:txBody>
          <a:bodyPr/>
          <a:lstStyle/>
          <a:p>
            <a:endParaRPr lang="ja-JP" altLang="en-US"/>
          </a:p>
        </p:txBody>
      </p:sp>
      <p:sp>
        <p:nvSpPr>
          <p:cNvPr id="14" name="Text 12"/>
          <p:cNvSpPr/>
          <p:nvPr/>
        </p:nvSpPr>
        <p:spPr>
          <a:xfrm>
            <a:off x="6537960" y="279806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15" name="Text 13"/>
          <p:cNvSpPr/>
          <p:nvPr/>
        </p:nvSpPr>
        <p:spPr>
          <a:xfrm>
            <a:off x="7114032" y="2670048"/>
            <a:ext cx="1828800" cy="219456"/>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移動</a:t>
            </a:r>
            <a:endParaRPr lang="en-US" sz="1200" dirty="0"/>
          </a:p>
        </p:txBody>
      </p:sp>
      <p:sp>
        <p:nvSpPr>
          <p:cNvPr id="16" name="Text 14"/>
          <p:cNvSpPr/>
          <p:nvPr/>
        </p:nvSpPr>
        <p:spPr>
          <a:xfrm>
            <a:off x="7114032" y="2953512"/>
            <a:ext cx="3566160" cy="201168"/>
          </a:xfrm>
          <a:prstGeom prst="rect">
            <a:avLst/>
          </a:prstGeom>
          <a:noFill/>
          <a:ln/>
        </p:spPr>
        <p:txBody>
          <a:bodyPr wrap="square" lIns="0" tIns="0" rIns="0" bIns="0" rtlCol="0" anchor="ctr"/>
          <a:lstStyle/>
          <a:p>
            <a:pPr marL="0" indent="0">
              <a:buNone/>
            </a:pPr>
            <a:r>
              <a:rPr lang="en-US" sz="950" dirty="0">
                <a:solidFill>
                  <a:srgbClr val="5B677A"/>
                </a:solidFill>
                <a:latin typeface="Yu Gothic" pitchFamily="34" charset="0"/>
                <a:ea typeface="Yu Gothic" pitchFamily="34" charset="-122"/>
                <a:cs typeface="Yu Gothic" pitchFamily="34" charset="-120"/>
              </a:rPr>
              <a:t>1000単位時間くり返し</a:t>
            </a:r>
            <a:endParaRPr lang="en-US" sz="950" dirty="0"/>
          </a:p>
        </p:txBody>
      </p:sp>
      <p:sp>
        <p:nvSpPr>
          <p:cNvPr id="17" name="Shape 15"/>
          <p:cNvSpPr/>
          <p:nvPr/>
        </p:nvSpPr>
        <p:spPr>
          <a:xfrm>
            <a:off x="6537960" y="3520440"/>
            <a:ext cx="384048" cy="384048"/>
          </a:xfrm>
          <a:prstGeom prst="ellipse">
            <a:avLst/>
          </a:prstGeom>
          <a:solidFill>
            <a:srgbClr val="2F6BFF"/>
          </a:solidFill>
          <a:ln w="12700">
            <a:solidFill>
              <a:srgbClr val="2F6BFF"/>
            </a:solidFill>
            <a:prstDash val="solid"/>
          </a:ln>
        </p:spPr>
        <p:txBody>
          <a:bodyPr/>
          <a:lstStyle/>
          <a:p>
            <a:endParaRPr lang="ja-JP" altLang="en-US"/>
          </a:p>
        </p:txBody>
      </p:sp>
      <p:sp>
        <p:nvSpPr>
          <p:cNvPr id="18" name="Text 16"/>
          <p:cNvSpPr/>
          <p:nvPr/>
        </p:nvSpPr>
        <p:spPr>
          <a:xfrm>
            <a:off x="6537960" y="362102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Yu Gothic" pitchFamily="34" charset="0"/>
                <a:ea typeface="Yu Gothic" pitchFamily="34" charset="-122"/>
                <a:cs typeface="Yu Gothic" pitchFamily="34" charset="-120"/>
              </a:rPr>
              <a:t>3</a:t>
            </a:r>
            <a:endParaRPr lang="en-US" sz="900" dirty="0"/>
          </a:p>
        </p:txBody>
      </p:sp>
      <p:sp>
        <p:nvSpPr>
          <p:cNvPr id="19" name="Text 17"/>
          <p:cNvSpPr/>
          <p:nvPr/>
        </p:nvSpPr>
        <p:spPr>
          <a:xfrm>
            <a:off x="7114032" y="3493008"/>
            <a:ext cx="1828800" cy="219456"/>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通信判定</a:t>
            </a:r>
            <a:endParaRPr lang="en-US" sz="1200" dirty="0"/>
          </a:p>
        </p:txBody>
      </p:sp>
      <p:sp>
        <p:nvSpPr>
          <p:cNvPr id="20" name="Text 18"/>
          <p:cNvSpPr/>
          <p:nvPr/>
        </p:nvSpPr>
        <p:spPr>
          <a:xfrm>
            <a:off x="7114032" y="3776472"/>
            <a:ext cx="3566160" cy="201168"/>
          </a:xfrm>
          <a:prstGeom prst="rect">
            <a:avLst/>
          </a:prstGeom>
          <a:noFill/>
          <a:ln/>
        </p:spPr>
        <p:txBody>
          <a:bodyPr wrap="square" lIns="0" tIns="0" rIns="0" bIns="0" rtlCol="0" anchor="ctr"/>
          <a:lstStyle/>
          <a:p>
            <a:pPr marL="0" indent="0">
              <a:buNone/>
            </a:pPr>
            <a:r>
              <a:rPr lang="en-US" sz="950" dirty="0">
                <a:solidFill>
                  <a:srgbClr val="5B677A"/>
                </a:solidFill>
                <a:latin typeface="Yu Gothic" pitchFamily="34" charset="0"/>
                <a:ea typeface="Yu Gothic" pitchFamily="34" charset="-122"/>
                <a:cs typeface="Yu Gothic" pitchFamily="34" charset="-120"/>
              </a:rPr>
              <a:t>距離条件と領域条件を確認</a:t>
            </a:r>
            <a:endParaRPr lang="en-US" sz="950" dirty="0"/>
          </a:p>
        </p:txBody>
      </p:sp>
      <p:sp>
        <p:nvSpPr>
          <p:cNvPr id="21" name="Shape 19"/>
          <p:cNvSpPr/>
          <p:nvPr/>
        </p:nvSpPr>
        <p:spPr>
          <a:xfrm>
            <a:off x="6537960" y="4343400"/>
            <a:ext cx="384048" cy="384048"/>
          </a:xfrm>
          <a:prstGeom prst="ellipse">
            <a:avLst/>
          </a:prstGeom>
          <a:solidFill>
            <a:srgbClr val="2F6BFF"/>
          </a:solidFill>
          <a:ln w="12700">
            <a:solidFill>
              <a:srgbClr val="2F6BFF"/>
            </a:solidFill>
            <a:prstDash val="solid"/>
          </a:ln>
        </p:spPr>
        <p:txBody>
          <a:bodyPr/>
          <a:lstStyle/>
          <a:p>
            <a:endParaRPr lang="ja-JP" altLang="en-US"/>
          </a:p>
        </p:txBody>
      </p:sp>
      <p:sp>
        <p:nvSpPr>
          <p:cNvPr id="22" name="Text 20"/>
          <p:cNvSpPr/>
          <p:nvPr/>
        </p:nvSpPr>
        <p:spPr>
          <a:xfrm>
            <a:off x="6537960" y="444398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Yu Gothic" pitchFamily="34" charset="0"/>
                <a:ea typeface="Yu Gothic" pitchFamily="34" charset="-122"/>
                <a:cs typeface="Yu Gothic" pitchFamily="34" charset="-120"/>
              </a:rPr>
              <a:t>4</a:t>
            </a:r>
            <a:endParaRPr lang="en-US" sz="900" dirty="0"/>
          </a:p>
        </p:txBody>
      </p:sp>
      <p:sp>
        <p:nvSpPr>
          <p:cNvPr id="23" name="Text 21"/>
          <p:cNvSpPr/>
          <p:nvPr/>
        </p:nvSpPr>
        <p:spPr>
          <a:xfrm>
            <a:off x="7114032" y="4315968"/>
            <a:ext cx="1828800" cy="219456"/>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集計</a:t>
            </a:r>
            <a:endParaRPr lang="en-US" sz="1200" dirty="0"/>
          </a:p>
        </p:txBody>
      </p:sp>
      <p:sp>
        <p:nvSpPr>
          <p:cNvPr id="24" name="Text 22"/>
          <p:cNvSpPr/>
          <p:nvPr/>
        </p:nvSpPr>
        <p:spPr>
          <a:xfrm>
            <a:off x="7114032" y="4599432"/>
            <a:ext cx="3566160" cy="201168"/>
          </a:xfrm>
          <a:prstGeom prst="rect">
            <a:avLst/>
          </a:prstGeom>
          <a:noFill/>
          <a:ln/>
        </p:spPr>
        <p:txBody>
          <a:bodyPr wrap="square" lIns="0" tIns="0" rIns="0" bIns="0" rtlCol="0" anchor="ctr"/>
          <a:lstStyle/>
          <a:p>
            <a:pPr marL="0" indent="0">
              <a:buNone/>
            </a:pPr>
            <a:r>
              <a:rPr lang="en-US" sz="950" dirty="0">
                <a:solidFill>
                  <a:srgbClr val="5B677A"/>
                </a:solidFill>
                <a:latin typeface="Yu Gothic" pitchFamily="34" charset="0"/>
                <a:ea typeface="Yu Gothic" pitchFamily="34" charset="-122"/>
                <a:cs typeface="Yu Gothic" pitchFamily="34" charset="-120"/>
              </a:rPr>
              <a:t>100, 200, ... , 1000で記録</a:t>
            </a:r>
            <a:endParaRPr lang="en-US" sz="950" dirty="0"/>
          </a:p>
        </p:txBody>
      </p:sp>
      <p:sp>
        <p:nvSpPr>
          <p:cNvPr id="25" name="Text 23"/>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実験1</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全領域での通信距離比較</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通信距離が長いほどT0のみでも受信数は増え、拡散ありでは短時間で全端末に到達しやすい。</a:t>
            </a:r>
            <a:endParaRPr lang="en-US" sz="1050" dirty="0"/>
          </a:p>
        </p:txBody>
      </p:sp>
      <p:sp>
        <p:nvSpPr>
          <p:cNvPr id="6" name="Shape 4"/>
          <p:cNvSpPr/>
          <p:nvPr/>
        </p:nvSpPr>
        <p:spPr>
          <a:xfrm>
            <a:off x="502920" y="1481328"/>
            <a:ext cx="7452360" cy="4462272"/>
          </a:xfrm>
          <a:prstGeom prst="rect">
            <a:avLst/>
          </a:prstGeom>
          <a:solidFill>
            <a:srgbClr val="FFFFFF"/>
          </a:solidFill>
          <a:ln w="12700">
            <a:solidFill>
              <a:srgbClr val="D7DEE8">
                <a:alpha val="90000"/>
              </a:srgbClr>
            </a:solidFill>
            <a:prstDash val="solid"/>
          </a:ln>
        </p:spPr>
        <p:txBody>
          <a:bodyPr/>
          <a:lstStyle/>
          <a:p>
            <a:endParaRPr lang="ja-JP" altLang="en-US"/>
          </a:p>
        </p:txBody>
      </p:sp>
      <p:pic>
        <p:nvPicPr>
          <p:cNvPr id="7" name="Image 0" descr="C:/Users/kazuy/Documents/research/py/output_shigatsu/original_average_non_comm_area.png"/>
          <p:cNvPicPr>
            <a:picLocks noChangeAspect="1"/>
          </p:cNvPicPr>
          <p:nvPr/>
        </p:nvPicPr>
        <p:blipFill>
          <a:blip r:embed="rId3"/>
          <a:stretch>
            <a:fillRect/>
          </a:stretch>
        </p:blipFill>
        <p:spPr>
          <a:xfrm>
            <a:off x="576072" y="1554480"/>
            <a:ext cx="7306056" cy="4315968"/>
          </a:xfrm>
          <a:prstGeom prst="rect">
            <a:avLst/>
          </a:prstGeom>
        </p:spPr>
      </p:pic>
      <p:sp>
        <p:nvSpPr>
          <p:cNvPr id="8" name="Text 5"/>
          <p:cNvSpPr/>
          <p:nvPr/>
        </p:nvSpPr>
        <p:spPr>
          <a:xfrm>
            <a:off x="8302752" y="1664208"/>
            <a:ext cx="315468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読み取り</a:t>
            </a:r>
            <a:endParaRPr lang="en-US" sz="1200" dirty="0"/>
          </a:p>
        </p:txBody>
      </p:sp>
      <p:sp>
        <p:nvSpPr>
          <p:cNvPr id="9" name="Text 6"/>
          <p:cNvSpPr/>
          <p:nvPr/>
        </p:nvSpPr>
        <p:spPr>
          <a:xfrm>
            <a:off x="8302752" y="2048256"/>
            <a:ext cx="3154680" cy="304495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50mではT0のみの到達が遅く、最終平均16.2/20</a:t>
            </a:r>
            <a:endParaRPr lang="en-US" sz="1300" dirty="0"/>
          </a:p>
          <a:p>
            <a:r>
              <a:rPr lang="en-US" sz="1300" dirty="0">
                <a:solidFill>
                  <a:srgbClr val="1F2933"/>
                </a:solidFill>
                <a:latin typeface="Yu Gothic" pitchFamily="34" charset="0"/>
                <a:ea typeface="Yu Gothic" pitchFamily="34" charset="-122"/>
                <a:cs typeface="Yu Gothic" pitchFamily="34" charset="-120"/>
              </a:rPr>
              <a:t>100mではT0のみで最終平均19.6/20まで到達</a:t>
            </a:r>
            <a:endParaRPr lang="en-US" sz="1300" dirty="0"/>
          </a:p>
          <a:p>
            <a:r>
              <a:rPr lang="en-US" sz="1300" dirty="0">
                <a:solidFill>
                  <a:srgbClr val="1F2933"/>
                </a:solidFill>
                <a:latin typeface="Yu Gothic" pitchFamily="34" charset="0"/>
                <a:ea typeface="Yu Gothic" pitchFamily="34" charset="-122"/>
                <a:cs typeface="Yu Gothic" pitchFamily="34" charset="-120"/>
              </a:rPr>
              <a:t>150mではT0のみでも最終平均19.9/20</a:t>
            </a:r>
            <a:endParaRPr lang="en-US" sz="1300" dirty="0"/>
          </a:p>
          <a:p>
            <a:r>
              <a:rPr lang="en-US" sz="1300" dirty="0">
                <a:solidFill>
                  <a:srgbClr val="1F2933"/>
                </a:solidFill>
                <a:latin typeface="Yu Gothic" pitchFamily="34" charset="0"/>
                <a:ea typeface="Yu Gothic" pitchFamily="34" charset="-122"/>
                <a:cs typeface="Yu Gothic" pitchFamily="34" charset="-120"/>
              </a:rPr>
              <a:t>拡散ありでは50mでも400時点で平均20/20に到達</a:t>
            </a:r>
            <a:endParaRPr lang="en-US" sz="1300" dirty="0"/>
          </a:p>
        </p:txBody>
      </p:sp>
      <p:sp>
        <p:nvSpPr>
          <p:cNvPr id="10" name="Text 7"/>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3</a:t>
            </a:r>
            <a:endParaRPr lang="en-US" sz="750" dirty="0"/>
          </a:p>
        </p:txBody>
      </p:sp>
      <p:sp>
        <p:nvSpPr>
          <p:cNvPr id="11" name="テキスト ボックス 10">
            <a:extLst>
              <a:ext uri="{FF2B5EF4-FFF2-40B4-BE49-F238E27FC236}">
                <a16:creationId xmlns:a16="http://schemas.microsoft.com/office/drawing/2014/main" id="{72317AB7-7C7B-C2CA-2B2F-EC3F977F061A}"/>
              </a:ext>
            </a:extLst>
          </p:cNvPr>
          <p:cNvSpPr txBox="1"/>
          <p:nvPr/>
        </p:nvSpPr>
        <p:spPr>
          <a:xfrm>
            <a:off x="8366760" y="4649638"/>
            <a:ext cx="2813074" cy="369332"/>
          </a:xfrm>
          <a:prstGeom prst="rect">
            <a:avLst/>
          </a:prstGeom>
          <a:noFill/>
        </p:spPr>
        <p:txBody>
          <a:bodyPr wrap="square" rtlCol="0">
            <a:spAutoFit/>
          </a:bodyPr>
          <a:lstStyle/>
          <a:p>
            <a:r>
              <a:rPr kumimoji="1" lang="en-US" altLang="ja-JP" dirty="0"/>
              <a:t>0~100,200</a:t>
            </a:r>
            <a:r>
              <a:rPr kumimoji="1" lang="ja-JP" altLang="en-US" dirty="0"/>
              <a:t>を細かく示す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実験2</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通信可能領域を中央に限定した比較</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通信できる場所を中央に限定すると、領域が小さいほどT0のみの到達数が大きく下がる。</a:t>
            </a:r>
            <a:endParaRPr lang="en-US" sz="1050" dirty="0"/>
          </a:p>
        </p:txBody>
      </p:sp>
      <p:sp>
        <p:nvSpPr>
          <p:cNvPr id="6" name="Shape 4"/>
          <p:cNvSpPr/>
          <p:nvPr/>
        </p:nvSpPr>
        <p:spPr>
          <a:xfrm>
            <a:off x="502920" y="1481328"/>
            <a:ext cx="7452360" cy="4462272"/>
          </a:xfrm>
          <a:prstGeom prst="rect">
            <a:avLst/>
          </a:prstGeom>
          <a:solidFill>
            <a:srgbClr val="FFFFFF"/>
          </a:solidFill>
          <a:ln w="12700">
            <a:solidFill>
              <a:srgbClr val="D7DEE8">
                <a:alpha val="90000"/>
              </a:srgbClr>
            </a:solidFill>
            <a:prstDash val="solid"/>
          </a:ln>
        </p:spPr>
        <p:txBody>
          <a:bodyPr/>
          <a:lstStyle/>
          <a:p>
            <a:endParaRPr lang="ja-JP" altLang="en-US"/>
          </a:p>
        </p:txBody>
      </p:sp>
      <p:pic>
        <p:nvPicPr>
          <p:cNvPr id="7" name="Image 0" descr="C:/Users/kazuy/Documents/research/py/output_shigatsu/original_average_limited_area_exp1.png"/>
          <p:cNvPicPr>
            <a:picLocks noChangeAspect="1"/>
          </p:cNvPicPr>
          <p:nvPr/>
        </p:nvPicPr>
        <p:blipFill>
          <a:blip r:embed="rId3"/>
          <a:stretch>
            <a:fillRect/>
          </a:stretch>
        </p:blipFill>
        <p:spPr>
          <a:xfrm>
            <a:off x="576072" y="1554480"/>
            <a:ext cx="7306056" cy="4315968"/>
          </a:xfrm>
          <a:prstGeom prst="rect">
            <a:avLst/>
          </a:prstGeom>
        </p:spPr>
      </p:pic>
      <p:sp>
        <p:nvSpPr>
          <p:cNvPr id="8" name="Text 5"/>
          <p:cNvSpPr/>
          <p:nvPr/>
        </p:nvSpPr>
        <p:spPr>
          <a:xfrm>
            <a:off x="8302752" y="1664208"/>
            <a:ext cx="315468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読み取り</a:t>
            </a:r>
            <a:endParaRPr lang="en-US" sz="1200" dirty="0"/>
          </a:p>
        </p:txBody>
      </p:sp>
      <p:sp>
        <p:nvSpPr>
          <p:cNvPr id="9" name="Text 6"/>
          <p:cNvSpPr/>
          <p:nvPr/>
        </p:nvSpPr>
        <p:spPr>
          <a:xfrm>
            <a:off x="8302752" y="2048256"/>
            <a:ext cx="3154680" cy="304495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全領域ではT0のみでも最終平均97.7/100</a:t>
            </a:r>
            <a:endParaRPr lang="en-US" sz="1300" dirty="0"/>
          </a:p>
          <a:p>
            <a:r>
              <a:rPr lang="en-US" sz="1300" dirty="0">
                <a:solidFill>
                  <a:srgbClr val="1F2933"/>
                </a:solidFill>
                <a:latin typeface="Yu Gothic" pitchFamily="34" charset="0"/>
                <a:ea typeface="Yu Gothic" pitchFamily="34" charset="-122"/>
                <a:cs typeface="Yu Gothic" pitchFamily="34" charset="-120"/>
              </a:rPr>
              <a:t>100x100領域ではT0のみが最終平均12.9/100</a:t>
            </a:r>
            <a:endParaRPr lang="en-US" sz="1300" dirty="0"/>
          </a:p>
          <a:p>
            <a:r>
              <a:rPr lang="en-US" sz="1300" dirty="0">
                <a:solidFill>
                  <a:srgbClr val="1F2933"/>
                </a:solidFill>
                <a:latin typeface="Yu Gothic" pitchFamily="34" charset="0"/>
                <a:ea typeface="Yu Gothic" pitchFamily="34" charset="-122"/>
                <a:cs typeface="Yu Gothic" pitchFamily="34" charset="-120"/>
              </a:rPr>
              <a:t>200x200領域では拡散ありが最終平均98.9/100</a:t>
            </a:r>
            <a:endParaRPr lang="en-US" sz="1300" dirty="0"/>
          </a:p>
          <a:p>
            <a:r>
              <a:rPr lang="en-US" sz="1300" dirty="0">
                <a:solidFill>
                  <a:srgbClr val="1F2933"/>
                </a:solidFill>
                <a:latin typeface="Yu Gothic" pitchFamily="34" charset="0"/>
                <a:ea typeface="Yu Gothic" pitchFamily="34" charset="-122"/>
                <a:cs typeface="Yu Gothic" pitchFamily="34" charset="-120"/>
              </a:rPr>
              <a:t>限定領域ではT0や中継端末が領域内にいる時間が重要になる</a:t>
            </a:r>
            <a:endParaRPr lang="en-US" sz="1300" dirty="0"/>
          </a:p>
        </p:txBody>
      </p:sp>
      <p:sp>
        <p:nvSpPr>
          <p:cNvPr id="10" name="Text 7"/>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4</a:t>
            </a:r>
            <a:endParaRPr lang="en-US" sz="750" dirty="0"/>
          </a:p>
        </p:txBody>
      </p:sp>
      <p:sp>
        <p:nvSpPr>
          <p:cNvPr id="11" name="テキスト ボックス 10">
            <a:extLst>
              <a:ext uri="{FF2B5EF4-FFF2-40B4-BE49-F238E27FC236}">
                <a16:creationId xmlns:a16="http://schemas.microsoft.com/office/drawing/2014/main" id="{B48D89E4-D149-A1F8-1453-C87BF80F4F61}"/>
              </a:ext>
            </a:extLst>
          </p:cNvPr>
          <p:cNvSpPr txBox="1"/>
          <p:nvPr/>
        </p:nvSpPr>
        <p:spPr>
          <a:xfrm>
            <a:off x="8302752" y="5512279"/>
            <a:ext cx="2989225" cy="646331"/>
          </a:xfrm>
          <a:prstGeom prst="rect">
            <a:avLst/>
          </a:prstGeom>
          <a:noFill/>
        </p:spPr>
        <p:txBody>
          <a:bodyPr wrap="square" rtlCol="0">
            <a:spAutoFit/>
          </a:bodyPr>
          <a:lstStyle/>
          <a:p>
            <a:r>
              <a:rPr kumimoji="1" lang="ja-JP" altLang="en-US" dirty="0"/>
              <a:t>引いてみたら曲線何じゃない。最初の部分も細かく</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実験3</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通信領域サイズを変えた比較</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中央領域を広くすると、拡散ありではより早く全体へ到達する。</a:t>
            </a:r>
            <a:endParaRPr lang="en-US" sz="1050" dirty="0"/>
          </a:p>
        </p:txBody>
      </p:sp>
      <p:sp>
        <p:nvSpPr>
          <p:cNvPr id="6" name="Shape 4"/>
          <p:cNvSpPr/>
          <p:nvPr/>
        </p:nvSpPr>
        <p:spPr>
          <a:xfrm>
            <a:off x="502920" y="1481328"/>
            <a:ext cx="7452360" cy="4462272"/>
          </a:xfrm>
          <a:prstGeom prst="rect">
            <a:avLst/>
          </a:prstGeom>
          <a:solidFill>
            <a:srgbClr val="FFFFFF"/>
          </a:solidFill>
          <a:ln w="12700">
            <a:solidFill>
              <a:srgbClr val="D7DEE8">
                <a:alpha val="90000"/>
              </a:srgbClr>
            </a:solidFill>
            <a:prstDash val="solid"/>
          </a:ln>
        </p:spPr>
        <p:txBody>
          <a:bodyPr/>
          <a:lstStyle/>
          <a:p>
            <a:endParaRPr lang="ja-JP" altLang="en-US"/>
          </a:p>
        </p:txBody>
      </p:sp>
      <p:pic>
        <p:nvPicPr>
          <p:cNvPr id="7" name="Image 0" descr="C:/Users/kazuy/Documents/research/py/output_shigatsu/original_average_area_size_exp2.png"/>
          <p:cNvPicPr>
            <a:picLocks noChangeAspect="1"/>
          </p:cNvPicPr>
          <p:nvPr/>
        </p:nvPicPr>
        <p:blipFill>
          <a:blip r:embed="rId3"/>
          <a:stretch>
            <a:fillRect/>
          </a:stretch>
        </p:blipFill>
        <p:spPr>
          <a:xfrm>
            <a:off x="576072" y="1554480"/>
            <a:ext cx="7306056" cy="4315968"/>
          </a:xfrm>
          <a:prstGeom prst="rect">
            <a:avLst/>
          </a:prstGeom>
        </p:spPr>
      </p:pic>
      <p:sp>
        <p:nvSpPr>
          <p:cNvPr id="8" name="Text 5"/>
          <p:cNvSpPr/>
          <p:nvPr/>
        </p:nvSpPr>
        <p:spPr>
          <a:xfrm>
            <a:off x="8302752" y="1664208"/>
            <a:ext cx="315468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読み取り</a:t>
            </a:r>
            <a:endParaRPr lang="en-US" sz="1200" dirty="0"/>
          </a:p>
        </p:txBody>
      </p:sp>
      <p:sp>
        <p:nvSpPr>
          <p:cNvPr id="9" name="Text 6"/>
          <p:cNvSpPr/>
          <p:nvPr/>
        </p:nvSpPr>
        <p:spPr>
          <a:xfrm>
            <a:off x="8302752" y="2048256"/>
            <a:ext cx="3154680" cy="322783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100x100でも拡散ありは最終平均87.5/100まで到達</a:t>
            </a:r>
            <a:endParaRPr lang="en-US" sz="1300" dirty="0"/>
          </a:p>
          <a:p>
            <a:r>
              <a:rPr lang="en-US" sz="1300" dirty="0">
                <a:solidFill>
                  <a:srgbClr val="1F2933"/>
                </a:solidFill>
                <a:latin typeface="Yu Gothic" pitchFamily="34" charset="0"/>
                <a:ea typeface="Yu Gothic" pitchFamily="34" charset="-122"/>
                <a:cs typeface="Yu Gothic" pitchFamily="34" charset="-120"/>
              </a:rPr>
              <a:t>200x200以上では拡散ありが最終平均99/100以上</a:t>
            </a:r>
            <a:endParaRPr lang="en-US" sz="1300" dirty="0"/>
          </a:p>
          <a:p>
            <a:r>
              <a:rPr lang="en-US" sz="1300" dirty="0">
                <a:solidFill>
                  <a:srgbClr val="1F2933"/>
                </a:solidFill>
                <a:latin typeface="Yu Gothic" pitchFamily="34" charset="0"/>
                <a:ea typeface="Yu Gothic" pitchFamily="34" charset="-122"/>
                <a:cs typeface="Yu Gothic" pitchFamily="34" charset="-120"/>
              </a:rPr>
              <a:t>T0のみは領域サイズの影響を強く受ける</a:t>
            </a:r>
            <a:endParaRPr lang="en-US" sz="1300" dirty="0"/>
          </a:p>
          <a:p>
            <a:r>
              <a:rPr lang="en-US" sz="1300" dirty="0">
                <a:solidFill>
                  <a:srgbClr val="1F2933"/>
                </a:solidFill>
                <a:latin typeface="Yu Gothic" pitchFamily="34" charset="0"/>
                <a:ea typeface="Yu Gothic" pitchFamily="34" charset="-122"/>
                <a:cs typeface="Yu Gothic" pitchFamily="34" charset="-120"/>
              </a:rPr>
              <a:t>平均化により、領域サイズが大きいほど受信数が増える傾向が見やすくなった</a:t>
            </a:r>
            <a:endParaRPr lang="en-US" sz="1300" dirty="0"/>
          </a:p>
        </p:txBody>
      </p:sp>
      <p:sp>
        <p:nvSpPr>
          <p:cNvPr id="10" name="Text 7"/>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5</a:t>
            </a:r>
            <a:endParaRPr lang="en-US" sz="750" dirty="0"/>
          </a:p>
        </p:txBody>
      </p:sp>
      <p:sp>
        <p:nvSpPr>
          <p:cNvPr id="11" name="テキスト ボックス 10">
            <a:extLst>
              <a:ext uri="{FF2B5EF4-FFF2-40B4-BE49-F238E27FC236}">
                <a16:creationId xmlns:a16="http://schemas.microsoft.com/office/drawing/2014/main" id="{149119A2-027D-7117-24B8-6E3C3EBA0DF8}"/>
              </a:ext>
            </a:extLst>
          </p:cNvPr>
          <p:cNvSpPr txBox="1"/>
          <p:nvPr/>
        </p:nvSpPr>
        <p:spPr>
          <a:xfrm>
            <a:off x="8302752" y="4796287"/>
            <a:ext cx="3058237" cy="646331"/>
          </a:xfrm>
          <a:prstGeom prst="rect">
            <a:avLst/>
          </a:prstGeom>
          <a:noFill/>
        </p:spPr>
        <p:txBody>
          <a:bodyPr wrap="square" rtlCol="0">
            <a:spAutoFit/>
          </a:bodyPr>
          <a:lstStyle/>
          <a:p>
            <a:r>
              <a:rPr kumimoji="1" lang="en-US" altLang="ja-JP" dirty="0"/>
              <a:t>100</a:t>
            </a:r>
            <a:r>
              <a:rPr kumimoji="1" lang="ja-JP" altLang="en-US" dirty="0"/>
              <a:t>すぐ行っちゃってひかくできない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実験4</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端末数を変えた比較</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端末数が増えると、拡散ありでは受信済み端末が中継点となり高い受信率になりやすい。</a:t>
            </a:r>
            <a:endParaRPr lang="en-US" sz="1050" dirty="0"/>
          </a:p>
        </p:txBody>
      </p:sp>
      <p:sp>
        <p:nvSpPr>
          <p:cNvPr id="6" name="Shape 4"/>
          <p:cNvSpPr/>
          <p:nvPr/>
        </p:nvSpPr>
        <p:spPr>
          <a:xfrm>
            <a:off x="502920" y="1481328"/>
            <a:ext cx="7452360" cy="4462272"/>
          </a:xfrm>
          <a:prstGeom prst="rect">
            <a:avLst/>
          </a:prstGeom>
          <a:solidFill>
            <a:srgbClr val="FFFFFF"/>
          </a:solidFill>
          <a:ln w="12700">
            <a:solidFill>
              <a:srgbClr val="D7DEE8">
                <a:alpha val="90000"/>
              </a:srgbClr>
            </a:solidFill>
            <a:prstDash val="solid"/>
          </a:ln>
        </p:spPr>
        <p:txBody>
          <a:bodyPr/>
          <a:lstStyle/>
          <a:p>
            <a:endParaRPr lang="ja-JP" altLang="en-US"/>
          </a:p>
        </p:txBody>
      </p:sp>
      <p:pic>
        <p:nvPicPr>
          <p:cNvPr id="7" name="Image 0" descr="C:/Users/kazuy/Documents/research/py/output_shigatsu/original_average_node_count_exp3.png"/>
          <p:cNvPicPr>
            <a:picLocks noChangeAspect="1"/>
          </p:cNvPicPr>
          <p:nvPr/>
        </p:nvPicPr>
        <p:blipFill>
          <a:blip r:embed="rId3"/>
          <a:stretch>
            <a:fillRect/>
          </a:stretch>
        </p:blipFill>
        <p:spPr>
          <a:xfrm>
            <a:off x="576072" y="1554480"/>
            <a:ext cx="7306056" cy="4315968"/>
          </a:xfrm>
          <a:prstGeom prst="rect">
            <a:avLst/>
          </a:prstGeom>
        </p:spPr>
      </p:pic>
      <p:sp>
        <p:nvSpPr>
          <p:cNvPr id="8" name="Text 5"/>
          <p:cNvSpPr/>
          <p:nvPr/>
        </p:nvSpPr>
        <p:spPr>
          <a:xfrm>
            <a:off x="8302752" y="1664208"/>
            <a:ext cx="3154680" cy="256032"/>
          </a:xfrm>
          <a:prstGeom prst="rect">
            <a:avLst/>
          </a:prstGeom>
          <a:noFill/>
          <a:ln/>
        </p:spPr>
        <p:txBody>
          <a:bodyPr wrap="square" lIns="0" tIns="0" rIns="0" bIns="0" rtlCol="0" anchor="ctr"/>
          <a:lstStyle/>
          <a:p>
            <a:pPr marL="0" indent="0">
              <a:buNone/>
            </a:pPr>
            <a:r>
              <a:rPr lang="en-US" sz="1200" b="1" dirty="0">
                <a:solidFill>
                  <a:srgbClr val="1F2933"/>
                </a:solidFill>
                <a:latin typeface="Yu Gothic" pitchFamily="34" charset="0"/>
                <a:ea typeface="Yu Gothic" pitchFamily="34" charset="-122"/>
                <a:cs typeface="Yu Gothic" pitchFamily="34" charset="-120"/>
              </a:rPr>
              <a:t>読み取り</a:t>
            </a:r>
            <a:endParaRPr lang="en-US" sz="1200" dirty="0"/>
          </a:p>
        </p:txBody>
      </p:sp>
      <p:sp>
        <p:nvSpPr>
          <p:cNvPr id="9" name="Text 6"/>
          <p:cNvSpPr/>
          <p:nvPr/>
        </p:nvSpPr>
        <p:spPr>
          <a:xfrm>
            <a:off x="8302752" y="2048256"/>
            <a:ext cx="3154680" cy="3364992"/>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拡散ありでは全条件で平均92%以上に到達</a:t>
            </a:r>
            <a:endParaRPr lang="en-US" sz="1300" dirty="0"/>
          </a:p>
          <a:p>
            <a:r>
              <a:rPr lang="en-US" sz="1300" dirty="0">
                <a:solidFill>
                  <a:srgbClr val="1F2933"/>
                </a:solidFill>
                <a:latin typeface="Yu Gothic" pitchFamily="34" charset="0"/>
                <a:ea typeface="Yu Gothic" pitchFamily="34" charset="-122"/>
                <a:cs typeface="Yu Gothic" pitchFamily="34" charset="-120"/>
              </a:rPr>
              <a:t>N=100以上では拡散ありがほぼ100%に到達</a:t>
            </a:r>
            <a:endParaRPr lang="en-US" sz="1300" dirty="0"/>
          </a:p>
          <a:p>
            <a:r>
              <a:rPr lang="en-US" sz="1300" dirty="0">
                <a:solidFill>
                  <a:srgbClr val="1F2933"/>
                </a:solidFill>
                <a:latin typeface="Yu Gothic" pitchFamily="34" charset="0"/>
                <a:ea typeface="Yu Gothic" pitchFamily="34" charset="-122"/>
                <a:cs typeface="Yu Gothic" pitchFamily="34" charset="-120"/>
              </a:rPr>
              <a:t>T0のみの受信率はおよそ38〜44%で大きく伸びにくい</a:t>
            </a:r>
            <a:endParaRPr lang="en-US" sz="1300" dirty="0"/>
          </a:p>
          <a:p>
            <a:r>
              <a:rPr lang="en-US" sz="1300" dirty="0">
                <a:solidFill>
                  <a:srgbClr val="1F2933"/>
                </a:solidFill>
                <a:latin typeface="Yu Gothic" pitchFamily="34" charset="0"/>
                <a:ea typeface="Yu Gothic" pitchFamily="34" charset="-122"/>
                <a:cs typeface="Yu Gothic" pitchFamily="34" charset="-120"/>
              </a:rPr>
              <a:t>端末が増えるほど中継機会が増え、拡散の効果が安定する</a:t>
            </a:r>
            <a:endParaRPr lang="en-US" sz="1300" dirty="0"/>
          </a:p>
        </p:txBody>
      </p:sp>
      <p:sp>
        <p:nvSpPr>
          <p:cNvPr id="10" name="Text 7"/>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6</a:t>
            </a:r>
            <a:endParaRPr lang="en-US" sz="750" dirty="0"/>
          </a:p>
        </p:txBody>
      </p:sp>
      <p:sp>
        <p:nvSpPr>
          <p:cNvPr id="11" name="テキスト ボックス 10">
            <a:extLst>
              <a:ext uri="{FF2B5EF4-FFF2-40B4-BE49-F238E27FC236}">
                <a16:creationId xmlns:a16="http://schemas.microsoft.com/office/drawing/2014/main" id="{6A31FAFC-E79A-5F64-7A4B-1FAC0DF6961D}"/>
              </a:ext>
            </a:extLst>
          </p:cNvPr>
          <p:cNvSpPr txBox="1"/>
          <p:nvPr/>
        </p:nvSpPr>
        <p:spPr>
          <a:xfrm>
            <a:off x="8366760" y="4813540"/>
            <a:ext cx="2787195" cy="646331"/>
          </a:xfrm>
          <a:prstGeom prst="rect">
            <a:avLst/>
          </a:prstGeom>
          <a:noFill/>
        </p:spPr>
        <p:txBody>
          <a:bodyPr wrap="square" rtlCol="0">
            <a:spAutoFit/>
          </a:bodyPr>
          <a:lstStyle/>
          <a:p>
            <a:r>
              <a:rPr kumimoji="1" lang="en-US" altLang="ja-JP" dirty="0"/>
              <a:t>100</a:t>
            </a:r>
            <a:r>
              <a:rPr kumimoji="1" lang="ja-JP" altLang="en-US" dirty="0"/>
              <a:t>すぐいって比較できない</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BFF"/>
          </a:solidFill>
          <a:ln w="12700">
            <a:solidFill>
              <a:srgbClr val="2F6BFF"/>
            </a:solidFill>
            <a:prstDash val="solid"/>
          </a:ln>
        </p:spPr>
        <p:txBody>
          <a:bodyPr/>
          <a:lstStyle/>
          <a:p>
            <a:endParaRPr lang="ja-JP" altLang="en-US"/>
          </a:p>
        </p:txBody>
      </p:sp>
      <p:sp>
        <p:nvSpPr>
          <p:cNvPr id="3" name="Text 1"/>
          <p:cNvSpPr/>
          <p:nvPr/>
        </p:nvSpPr>
        <p:spPr>
          <a:xfrm>
            <a:off x="502920" y="310896"/>
            <a:ext cx="4114800" cy="228600"/>
          </a:xfrm>
          <a:prstGeom prst="rect">
            <a:avLst/>
          </a:prstGeom>
          <a:noFill/>
          <a:ln/>
        </p:spPr>
        <p:txBody>
          <a:bodyPr wrap="square" lIns="0" tIns="0" rIns="0" bIns="0" rtlCol="0" anchor="ctr"/>
          <a:lstStyle/>
          <a:p>
            <a:pPr marL="0" indent="0">
              <a:buNone/>
            </a:pPr>
            <a:r>
              <a:rPr lang="en-US" sz="900" b="1" dirty="0">
                <a:solidFill>
                  <a:srgbClr val="2F6BFF"/>
                </a:solidFill>
                <a:latin typeface="Yu Gothic" pitchFamily="34" charset="0"/>
                <a:ea typeface="Yu Gothic" pitchFamily="34" charset="-122"/>
                <a:cs typeface="Yu Gothic" pitchFamily="34" charset="-120"/>
              </a:rPr>
              <a:t>まとめ</a:t>
            </a:r>
            <a:endParaRPr lang="en-US" sz="900" dirty="0"/>
          </a:p>
        </p:txBody>
      </p:sp>
      <p:sp>
        <p:nvSpPr>
          <p:cNvPr id="4" name="Text 2"/>
          <p:cNvSpPr/>
          <p:nvPr/>
        </p:nvSpPr>
        <p:spPr>
          <a:xfrm>
            <a:off x="502920" y="612648"/>
            <a:ext cx="7863840" cy="502920"/>
          </a:xfrm>
          <a:prstGeom prst="rect">
            <a:avLst/>
          </a:prstGeom>
          <a:noFill/>
          <a:ln/>
        </p:spPr>
        <p:txBody>
          <a:bodyPr wrap="square" lIns="0" tIns="0" rIns="0" bIns="0" rtlCol="0" anchor="ctr">
            <a:normAutofit/>
          </a:bodyPr>
          <a:lstStyle/>
          <a:p>
            <a:pPr marL="0" indent="0">
              <a:buNone/>
            </a:pPr>
            <a:r>
              <a:rPr lang="en-US" sz="2400" b="1" dirty="0">
                <a:solidFill>
                  <a:srgbClr val="1F2933"/>
                </a:solidFill>
                <a:latin typeface="Yu Gothic" pitchFamily="34" charset="0"/>
                <a:ea typeface="Yu Gothic" pitchFamily="34" charset="-122"/>
                <a:cs typeface="Yu Gothic" pitchFamily="34" charset="-120"/>
              </a:rPr>
              <a:t>結果のまとめ</a:t>
            </a:r>
            <a:endParaRPr lang="en-US" sz="2400" dirty="0"/>
          </a:p>
        </p:txBody>
      </p:sp>
      <p:sp>
        <p:nvSpPr>
          <p:cNvPr id="5" name="Text 3"/>
          <p:cNvSpPr/>
          <p:nvPr/>
        </p:nvSpPr>
        <p:spPr>
          <a:xfrm>
            <a:off x="530352" y="1078992"/>
            <a:ext cx="9784080" cy="274320"/>
          </a:xfrm>
          <a:prstGeom prst="rect">
            <a:avLst/>
          </a:prstGeom>
          <a:noFill/>
          <a:ln/>
        </p:spPr>
        <p:txBody>
          <a:bodyPr wrap="square" lIns="0" tIns="0" rIns="0" bIns="0" rtlCol="0" anchor="ctr">
            <a:normAutofit/>
          </a:bodyPr>
          <a:lstStyle/>
          <a:p>
            <a:pPr marL="0" indent="0">
              <a:buNone/>
            </a:pPr>
            <a:r>
              <a:rPr lang="en-US" sz="1050" dirty="0">
                <a:solidFill>
                  <a:srgbClr val="5B677A"/>
                </a:solidFill>
                <a:latin typeface="Yu Gothic" pitchFamily="34" charset="0"/>
                <a:ea typeface="Yu Gothic" pitchFamily="34" charset="-122"/>
                <a:cs typeface="Yu Gothic" pitchFamily="34" charset="-120"/>
              </a:rPr>
              <a:t>20回平均により、通信範囲、通信可能領域、情報拡散の有無による傾向が見やすくなった。</a:t>
            </a:r>
            <a:endParaRPr lang="en-US" sz="1050" dirty="0"/>
          </a:p>
        </p:txBody>
      </p:sp>
      <p:sp>
        <p:nvSpPr>
          <p:cNvPr id="6" name="Text 4"/>
          <p:cNvSpPr/>
          <p:nvPr/>
        </p:nvSpPr>
        <p:spPr>
          <a:xfrm>
            <a:off x="685800" y="1627632"/>
            <a:ext cx="4389120" cy="310896"/>
          </a:xfrm>
          <a:prstGeom prst="rect">
            <a:avLst/>
          </a:prstGeom>
          <a:noFill/>
          <a:ln/>
        </p:spPr>
        <p:txBody>
          <a:bodyPr wrap="square" lIns="0" tIns="0" rIns="0" bIns="0" rtlCol="0" anchor="ctr"/>
          <a:lstStyle/>
          <a:p>
            <a:pPr marL="0" indent="0">
              <a:buNone/>
            </a:pPr>
            <a:r>
              <a:rPr lang="en-US" sz="1500" b="1" dirty="0">
                <a:solidFill>
                  <a:srgbClr val="1F2933"/>
                </a:solidFill>
                <a:latin typeface="Yu Gothic" pitchFamily="34" charset="0"/>
                <a:ea typeface="Yu Gothic" pitchFamily="34" charset="-122"/>
                <a:cs typeface="Yu Gothic" pitchFamily="34" charset="-120"/>
              </a:rPr>
              <a:t>分かったこと</a:t>
            </a:r>
            <a:endParaRPr lang="en-US" sz="1500" dirty="0"/>
          </a:p>
        </p:txBody>
      </p:sp>
      <p:sp>
        <p:nvSpPr>
          <p:cNvPr id="7" name="Text 5"/>
          <p:cNvSpPr/>
          <p:nvPr/>
        </p:nvSpPr>
        <p:spPr>
          <a:xfrm>
            <a:off x="868680" y="2148840"/>
            <a:ext cx="4983480" cy="3200400"/>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通信距離が長いほどT0のみでも情報が届きやすい</a:t>
            </a:r>
            <a:endParaRPr lang="en-US" sz="1300" dirty="0"/>
          </a:p>
          <a:p>
            <a:r>
              <a:rPr lang="en-US" sz="1300" dirty="0">
                <a:solidFill>
                  <a:srgbClr val="1F2933"/>
                </a:solidFill>
                <a:latin typeface="Yu Gothic" pitchFamily="34" charset="0"/>
                <a:ea typeface="Yu Gothic" pitchFamily="34" charset="-122"/>
                <a:cs typeface="Yu Gothic" pitchFamily="34" charset="-120"/>
              </a:rPr>
              <a:t>受信済み端末も送信すると、到達速度と最終受信数が大きく改善する</a:t>
            </a:r>
            <a:endParaRPr lang="en-US" sz="1300" dirty="0"/>
          </a:p>
          <a:p>
            <a:r>
              <a:rPr lang="en-US" sz="1300" dirty="0">
                <a:solidFill>
                  <a:srgbClr val="1F2933"/>
                </a:solidFill>
                <a:latin typeface="Yu Gothic" pitchFamily="34" charset="0"/>
                <a:ea typeface="Yu Gothic" pitchFamily="34" charset="-122"/>
                <a:cs typeface="Yu Gothic" pitchFamily="34" charset="-120"/>
              </a:rPr>
              <a:t>通信可能領域を中央に限定すると、領域サイズが結果を左右する</a:t>
            </a:r>
            <a:endParaRPr lang="en-US" sz="1300" dirty="0"/>
          </a:p>
          <a:p>
            <a:r>
              <a:rPr lang="en-US" sz="1300" dirty="0">
                <a:solidFill>
                  <a:srgbClr val="1F2933"/>
                </a:solidFill>
                <a:latin typeface="Yu Gothic" pitchFamily="34" charset="0"/>
                <a:ea typeface="Yu Gothic" pitchFamily="34" charset="-122"/>
                <a:cs typeface="Yu Gothic" pitchFamily="34" charset="-120"/>
              </a:rPr>
              <a:t>端末数が増えると、拡散ありでは中継機会が増えて高い受信率になりやすい</a:t>
            </a:r>
            <a:endParaRPr lang="en-US" sz="1300" dirty="0"/>
          </a:p>
        </p:txBody>
      </p:sp>
      <p:sp>
        <p:nvSpPr>
          <p:cNvPr id="8" name="Shape 6"/>
          <p:cNvSpPr/>
          <p:nvPr/>
        </p:nvSpPr>
        <p:spPr>
          <a:xfrm>
            <a:off x="6537960" y="1572768"/>
            <a:ext cx="4343400" cy="3520440"/>
          </a:xfrm>
          <a:prstGeom prst="rect">
            <a:avLst/>
          </a:prstGeom>
          <a:solidFill>
            <a:srgbClr val="FFFFFF"/>
          </a:solidFill>
          <a:ln w="12700">
            <a:solidFill>
              <a:srgbClr val="D7DEE8"/>
            </a:solidFill>
            <a:prstDash val="solid"/>
          </a:ln>
        </p:spPr>
        <p:txBody>
          <a:bodyPr/>
          <a:lstStyle/>
          <a:p>
            <a:endParaRPr lang="ja-JP" altLang="en-US"/>
          </a:p>
        </p:txBody>
      </p:sp>
      <p:sp>
        <p:nvSpPr>
          <p:cNvPr id="9" name="Text 7"/>
          <p:cNvSpPr/>
          <p:nvPr/>
        </p:nvSpPr>
        <p:spPr>
          <a:xfrm>
            <a:off x="6812280" y="1901952"/>
            <a:ext cx="2926080" cy="256032"/>
          </a:xfrm>
          <a:prstGeom prst="rect">
            <a:avLst/>
          </a:prstGeom>
          <a:noFill/>
          <a:ln/>
        </p:spPr>
        <p:txBody>
          <a:bodyPr wrap="square" lIns="0" tIns="0" rIns="0" bIns="0" rtlCol="0" anchor="ctr"/>
          <a:lstStyle/>
          <a:p>
            <a:pPr marL="0" indent="0">
              <a:buNone/>
            </a:pPr>
            <a:r>
              <a:rPr lang="en-US" sz="1400" b="1" dirty="0">
                <a:solidFill>
                  <a:srgbClr val="1F2933"/>
                </a:solidFill>
                <a:latin typeface="Yu Gothic" pitchFamily="34" charset="0"/>
                <a:ea typeface="Yu Gothic" pitchFamily="34" charset="-122"/>
                <a:cs typeface="Yu Gothic" pitchFamily="34" charset="-120"/>
              </a:rPr>
              <a:t>次に改善できる点</a:t>
            </a:r>
            <a:endParaRPr lang="en-US" sz="1400" dirty="0"/>
          </a:p>
        </p:txBody>
      </p:sp>
      <p:sp>
        <p:nvSpPr>
          <p:cNvPr id="10" name="Text 8"/>
          <p:cNvSpPr/>
          <p:nvPr/>
        </p:nvSpPr>
        <p:spPr>
          <a:xfrm>
            <a:off x="6812280" y="2423160"/>
            <a:ext cx="3703320" cy="1920240"/>
          </a:xfrm>
          <a:prstGeom prst="rect">
            <a:avLst/>
          </a:prstGeom>
          <a:noFill/>
          <a:ln/>
        </p:spPr>
        <p:txBody>
          <a:bodyPr wrap="square" lIns="381" tIns="381" rIns="381" bIns="381" rtlCol="0" anchor="ctr">
            <a:normAutofit/>
          </a:bodyPr>
          <a:lstStyle/>
          <a:p>
            <a:r>
              <a:rPr lang="en-US" sz="1300" dirty="0">
                <a:solidFill>
                  <a:srgbClr val="1F2933"/>
                </a:solidFill>
                <a:latin typeface="Yu Gothic" pitchFamily="34" charset="0"/>
                <a:ea typeface="Yu Gothic" pitchFamily="34" charset="-122"/>
                <a:cs typeface="Yu Gothic" pitchFamily="34" charset="-120"/>
              </a:rPr>
              <a:t>平均だけでなく標準偏差もグラフに加える</a:t>
            </a:r>
            <a:endParaRPr lang="en-US" sz="1300" dirty="0"/>
          </a:p>
          <a:p>
            <a:r>
              <a:rPr lang="en-US" sz="1300" dirty="0">
                <a:solidFill>
                  <a:srgbClr val="1F2933"/>
                </a:solidFill>
                <a:latin typeface="Yu Gothic" pitchFamily="34" charset="0"/>
                <a:ea typeface="Yu Gothic" pitchFamily="34" charset="-122"/>
                <a:cs typeface="Yu Gothic" pitchFamily="34" charset="-120"/>
              </a:rPr>
              <a:t>試行回数を増やして結果をさらに安定させる</a:t>
            </a:r>
            <a:endParaRPr lang="en-US" sz="1300" dirty="0"/>
          </a:p>
          <a:p>
            <a:r>
              <a:rPr lang="en-US" sz="1300" dirty="0">
                <a:solidFill>
                  <a:srgbClr val="1F2933"/>
                </a:solidFill>
                <a:latin typeface="Yu Gothic" pitchFamily="34" charset="0"/>
                <a:ea typeface="Yu Gothic" pitchFamily="34" charset="-122"/>
                <a:cs typeface="Yu Gothic" pitchFamily="34" charset="-120"/>
              </a:rPr>
              <a:t>通信領域に入った時間の割合も分析する</a:t>
            </a:r>
            <a:endParaRPr lang="en-US" sz="1300" dirty="0"/>
          </a:p>
        </p:txBody>
      </p:sp>
      <p:sp>
        <p:nvSpPr>
          <p:cNvPr id="11" name="Text 9"/>
          <p:cNvSpPr/>
          <p:nvPr/>
        </p:nvSpPr>
        <p:spPr>
          <a:xfrm>
            <a:off x="9829800" y="6519672"/>
            <a:ext cx="1874520" cy="164592"/>
          </a:xfrm>
          <a:prstGeom prst="rect">
            <a:avLst/>
          </a:prstGeom>
          <a:noFill/>
          <a:ln/>
        </p:spPr>
        <p:txBody>
          <a:bodyPr wrap="square" lIns="0" tIns="0" rIns="0" bIns="0" rtlCol="0" anchor="ctr"/>
          <a:lstStyle/>
          <a:p>
            <a:pPr marL="0" indent="0" algn="r">
              <a:buNone/>
            </a:pPr>
            <a:r>
              <a:rPr lang="en-US" sz="750" dirty="0">
                <a:solidFill>
                  <a:srgbClr val="7B8494"/>
                </a:solidFill>
                <a:latin typeface="Yu Gothic" pitchFamily="34" charset="0"/>
                <a:ea typeface="Yu Gothic" pitchFamily="34" charset="-122"/>
                <a:cs typeface="Yu Gothic" pitchFamily="34" charset="-120"/>
              </a:rPr>
              <a:t>情報通信シミュレーション | 7</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278</Words>
  <Application>Microsoft Office PowerPoint</Application>
  <PresentationFormat>ワイド画面</PresentationFormat>
  <Paragraphs>98</Paragraphs>
  <Slides>7</Slides>
  <Notes>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7</vt:i4>
      </vt:variant>
    </vt:vector>
  </HeadingPairs>
  <TitlesOfParts>
    <vt:vector size="10"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情報通信シミュレーション課題</dc:title>
  <dc:subject>Information communication simulation</dc:subject>
  <dc:creator>Codex</dc:creator>
  <cp:lastModifiedBy>庄司　和哉</cp:lastModifiedBy>
  <cp:revision>4</cp:revision>
  <dcterms:created xsi:type="dcterms:W3CDTF">2026-05-13T13:23:59Z</dcterms:created>
  <dcterms:modified xsi:type="dcterms:W3CDTF">2026-05-20T05:33:54Z</dcterms:modified>
</cp:coreProperties>
</file>