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0083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7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7FE"/>
          </a:solidFill>
          <a:ln w="12700">
            <a:solidFill>
              <a:srgbClr val="F3F7FE"/>
            </a:solidFill>
            <a:prstDash val="solid"/>
          </a:ln>
        </p:spPr>
        <p:txBody>
          <a:bodyPr/>
          <a:lstStyle/>
          <a:p>
            <a:endParaRPr lang="ja-JP" altLang="en-US"/>
          </a:p>
        </p:txBody>
      </p:sp>
      <p:sp>
        <p:nvSpPr>
          <p:cNvPr id="3" name="Shape 1"/>
          <p:cNvSpPr/>
          <p:nvPr/>
        </p:nvSpPr>
        <p:spPr>
          <a:xfrm>
            <a:off x="0" y="0"/>
            <a:ext cx="256032" cy="6858000"/>
          </a:xfrm>
          <a:prstGeom prst="rect">
            <a:avLst/>
          </a:prstGeom>
          <a:solidFill>
            <a:srgbClr val="2F6BFF"/>
          </a:solidFill>
          <a:ln w="12700">
            <a:solidFill>
              <a:srgbClr val="2F6BFF"/>
            </a:solidFill>
            <a:prstDash val="solid"/>
          </a:ln>
        </p:spPr>
        <p:txBody>
          <a:bodyPr/>
          <a:lstStyle/>
          <a:p>
            <a:endParaRPr lang="ja-JP" altLang="en-US"/>
          </a:p>
        </p:txBody>
      </p:sp>
      <p:sp>
        <p:nvSpPr>
          <p:cNvPr id="4" name="Text 2"/>
          <p:cNvSpPr/>
          <p:nvPr/>
        </p:nvSpPr>
        <p:spPr>
          <a:xfrm>
            <a:off x="749808" y="1005840"/>
            <a:ext cx="5669280" cy="1554480"/>
          </a:xfrm>
          <a:prstGeom prst="rect">
            <a:avLst/>
          </a:prstGeom>
          <a:noFill/>
          <a:ln/>
        </p:spPr>
        <p:txBody>
          <a:bodyPr wrap="square" lIns="0" tIns="0" rIns="0" bIns="0" rtlCol="0" anchor="ctr">
            <a:normAutofit/>
          </a:bodyPr>
          <a:lstStyle/>
          <a:p>
            <a:pPr marL="0" indent="0">
              <a:buNone/>
            </a:pPr>
            <a:r>
              <a:rPr lang="en-US" sz="3200" b="1" dirty="0">
                <a:solidFill>
                  <a:srgbClr val="1F2933"/>
                </a:solidFill>
                <a:latin typeface="Yu Gothic" pitchFamily="34" charset="0"/>
                <a:ea typeface="Yu Gothic" pitchFamily="34" charset="-122"/>
                <a:cs typeface="Yu Gothic" pitchFamily="34" charset="-120"/>
              </a:rPr>
              <a:t>情報通信</a:t>
            </a:r>
            <a:endParaRPr lang="en-US" sz="3200" dirty="0"/>
          </a:p>
          <a:p>
            <a:pPr marL="0" indent="0">
              <a:buNone/>
            </a:pPr>
            <a:r>
              <a:rPr lang="en-US" sz="3200" b="1" dirty="0">
                <a:solidFill>
                  <a:srgbClr val="1F2933"/>
                </a:solidFill>
                <a:latin typeface="Yu Gothic" pitchFamily="34" charset="0"/>
                <a:ea typeface="Yu Gothic" pitchFamily="34" charset="-122"/>
                <a:cs typeface="Yu Gothic" pitchFamily="34" charset="-120"/>
              </a:rPr>
              <a:t>シミュレーション</a:t>
            </a:r>
            <a:endParaRPr lang="en-US" sz="3200" dirty="0"/>
          </a:p>
        </p:txBody>
      </p:sp>
      <p:sp>
        <p:nvSpPr>
          <p:cNvPr id="5" name="Text 3"/>
          <p:cNvSpPr/>
          <p:nvPr/>
        </p:nvSpPr>
        <p:spPr>
          <a:xfrm>
            <a:off x="786384" y="2788920"/>
            <a:ext cx="5852160" cy="310896"/>
          </a:xfrm>
          <a:prstGeom prst="rect">
            <a:avLst/>
          </a:prstGeom>
          <a:noFill/>
          <a:ln/>
        </p:spPr>
        <p:txBody>
          <a:bodyPr wrap="square" lIns="0" tIns="0" rIns="0" bIns="0" rtlCol="0" anchor="ctr"/>
          <a:lstStyle/>
          <a:p>
            <a:pPr marL="0" indent="0">
              <a:buNone/>
            </a:pPr>
            <a:r>
              <a:rPr lang="en-US" sz="1300" dirty="0">
                <a:solidFill>
                  <a:srgbClr val="5B677A"/>
                </a:solidFill>
                <a:latin typeface="Yu Gothic" pitchFamily="34" charset="0"/>
                <a:ea typeface="Yu Gothic" pitchFamily="34" charset="-122"/>
                <a:cs typeface="Yu Gothic" pitchFamily="34" charset="-120"/>
              </a:rPr>
              <a:t>Random Waypoint による端末移動と情報拡散の比較</a:t>
            </a:r>
            <a:endParaRPr lang="en-US" sz="1300" dirty="0"/>
          </a:p>
        </p:txBody>
      </p:sp>
      <p:sp>
        <p:nvSpPr>
          <p:cNvPr id="6" name="Shape 4"/>
          <p:cNvSpPr/>
          <p:nvPr/>
        </p:nvSpPr>
        <p:spPr>
          <a:xfrm>
            <a:off x="786384" y="3337560"/>
            <a:ext cx="2057400" cy="329184"/>
          </a:xfrm>
          <a:prstGeom prst="roundRect">
            <a:avLst>
              <a:gd name="adj" fmla="val 22222"/>
            </a:avLst>
          </a:prstGeom>
          <a:solidFill>
            <a:srgbClr val="2F6BFF"/>
          </a:solidFill>
          <a:ln w="12700">
            <a:solidFill>
              <a:srgbClr val="2F6BFF"/>
            </a:solidFill>
            <a:prstDash val="solid"/>
          </a:ln>
        </p:spPr>
        <p:txBody>
          <a:bodyPr/>
          <a:lstStyle/>
          <a:p>
            <a:endParaRPr lang="ja-JP" altLang="en-US"/>
          </a:p>
        </p:txBody>
      </p:sp>
      <p:sp>
        <p:nvSpPr>
          <p:cNvPr id="7" name="Text 5"/>
          <p:cNvSpPr/>
          <p:nvPr/>
        </p:nvSpPr>
        <p:spPr>
          <a:xfrm>
            <a:off x="896112" y="3424428"/>
            <a:ext cx="1837944" cy="11887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1000m x 1000m</a:t>
            </a:r>
            <a:endParaRPr lang="en-US" sz="850" dirty="0"/>
          </a:p>
        </p:txBody>
      </p:sp>
      <p:sp>
        <p:nvSpPr>
          <p:cNvPr id="8" name="Shape 6"/>
          <p:cNvSpPr/>
          <p:nvPr/>
        </p:nvSpPr>
        <p:spPr>
          <a:xfrm>
            <a:off x="2999232" y="3337560"/>
            <a:ext cx="2057400" cy="329184"/>
          </a:xfrm>
          <a:prstGeom prst="roundRect">
            <a:avLst>
              <a:gd name="adj" fmla="val 22222"/>
            </a:avLst>
          </a:prstGeom>
          <a:solidFill>
            <a:srgbClr val="1E8E5A"/>
          </a:solidFill>
          <a:ln w="12700">
            <a:solidFill>
              <a:srgbClr val="1E8E5A"/>
            </a:solidFill>
            <a:prstDash val="solid"/>
          </a:ln>
        </p:spPr>
        <p:txBody>
          <a:bodyPr/>
          <a:lstStyle/>
          <a:p>
            <a:endParaRPr lang="ja-JP" altLang="en-US"/>
          </a:p>
        </p:txBody>
      </p:sp>
      <p:sp>
        <p:nvSpPr>
          <p:cNvPr id="9" name="Text 7"/>
          <p:cNvSpPr/>
          <p:nvPr/>
        </p:nvSpPr>
        <p:spPr>
          <a:xfrm>
            <a:off x="3108960" y="3424428"/>
            <a:ext cx="1837944" cy="11887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1000 time steps</a:t>
            </a:r>
            <a:endParaRPr lang="en-US" sz="850" dirty="0"/>
          </a:p>
        </p:txBody>
      </p:sp>
      <p:sp>
        <p:nvSpPr>
          <p:cNvPr id="10" name="Shape 8"/>
          <p:cNvSpPr/>
          <p:nvPr/>
        </p:nvSpPr>
        <p:spPr>
          <a:xfrm>
            <a:off x="5212080" y="3337560"/>
            <a:ext cx="2057400" cy="329184"/>
          </a:xfrm>
          <a:prstGeom prst="roundRect">
            <a:avLst>
              <a:gd name="adj" fmla="val 22222"/>
            </a:avLst>
          </a:prstGeom>
          <a:solidFill>
            <a:srgbClr val="F07C24"/>
          </a:solidFill>
          <a:ln w="12700">
            <a:solidFill>
              <a:srgbClr val="F07C24"/>
            </a:solidFill>
            <a:prstDash val="solid"/>
          </a:ln>
        </p:spPr>
        <p:txBody>
          <a:bodyPr/>
          <a:lstStyle/>
          <a:p>
            <a:endParaRPr lang="ja-JP" altLang="en-US"/>
          </a:p>
        </p:txBody>
      </p:sp>
      <p:sp>
        <p:nvSpPr>
          <p:cNvPr id="11" name="Text 9"/>
          <p:cNvSpPr/>
          <p:nvPr/>
        </p:nvSpPr>
        <p:spPr>
          <a:xfrm>
            <a:off x="5321808" y="3424428"/>
            <a:ext cx="1837944" cy="11887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50 / 100 / 150m</a:t>
            </a:r>
            <a:endParaRPr lang="en-US" sz="850" dirty="0"/>
          </a:p>
        </p:txBody>
      </p:sp>
      <p:sp>
        <p:nvSpPr>
          <p:cNvPr id="12" name="Shape 10"/>
          <p:cNvSpPr/>
          <p:nvPr/>
        </p:nvSpPr>
        <p:spPr>
          <a:xfrm>
            <a:off x="7406640" y="777240"/>
            <a:ext cx="0" cy="5349240"/>
          </a:xfrm>
          <a:prstGeom prst="line">
            <a:avLst/>
          </a:prstGeom>
          <a:noFill/>
          <a:ln w="12700">
            <a:solidFill>
              <a:srgbClr val="D7DEE8"/>
            </a:solidFill>
            <a:prstDash val="solid"/>
          </a:ln>
        </p:spPr>
        <p:txBody>
          <a:bodyPr/>
          <a:lstStyle/>
          <a:p>
            <a:endParaRPr lang="ja-JP" altLang="en-US"/>
          </a:p>
        </p:txBody>
      </p:sp>
      <p:sp>
        <p:nvSpPr>
          <p:cNvPr id="13" name="Text 11"/>
          <p:cNvSpPr/>
          <p:nvPr/>
        </p:nvSpPr>
        <p:spPr>
          <a:xfrm>
            <a:off x="7845552" y="1207008"/>
            <a:ext cx="1920240" cy="438912"/>
          </a:xfrm>
          <a:prstGeom prst="rect">
            <a:avLst/>
          </a:prstGeom>
          <a:noFill/>
          <a:ln/>
        </p:spPr>
        <p:txBody>
          <a:bodyPr wrap="square" lIns="0" tIns="0" rIns="0" bIns="0" rtlCol="0" anchor="ctr">
            <a:normAutofit/>
          </a:bodyPr>
          <a:lstStyle/>
          <a:p>
            <a:pPr marL="0" indent="0">
              <a:buNone/>
            </a:pPr>
            <a:r>
              <a:rPr lang="en-US" sz="2400" b="1" dirty="0">
                <a:solidFill>
                  <a:srgbClr val="2F6BFF"/>
                </a:solidFill>
                <a:latin typeface="Yu Gothic" pitchFamily="34" charset="0"/>
                <a:ea typeface="Yu Gothic" pitchFamily="34" charset="-122"/>
                <a:cs typeface="Yu Gothic" pitchFamily="34" charset="-120"/>
              </a:rPr>
              <a:t>20</a:t>
            </a:r>
            <a:endParaRPr lang="en-US" sz="2400" dirty="0"/>
          </a:p>
        </p:txBody>
      </p:sp>
      <p:sp>
        <p:nvSpPr>
          <p:cNvPr id="14" name="Text 12"/>
          <p:cNvSpPr/>
          <p:nvPr/>
        </p:nvSpPr>
        <p:spPr>
          <a:xfrm>
            <a:off x="7845552" y="1645920"/>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端末数（基本実験）</a:t>
            </a:r>
            <a:endParaRPr lang="en-US" sz="880" dirty="0"/>
          </a:p>
        </p:txBody>
      </p:sp>
      <p:sp>
        <p:nvSpPr>
          <p:cNvPr id="15" name="Text 13"/>
          <p:cNvSpPr/>
          <p:nvPr/>
        </p:nvSpPr>
        <p:spPr>
          <a:xfrm>
            <a:off x="9784080" y="1207008"/>
            <a:ext cx="1920240" cy="438912"/>
          </a:xfrm>
          <a:prstGeom prst="rect">
            <a:avLst/>
          </a:prstGeom>
          <a:noFill/>
          <a:ln/>
        </p:spPr>
        <p:txBody>
          <a:bodyPr wrap="square" lIns="0" tIns="0" rIns="0" bIns="0" rtlCol="0" anchor="ctr">
            <a:normAutofit/>
          </a:bodyPr>
          <a:lstStyle/>
          <a:p>
            <a:pPr marL="0" indent="0">
              <a:buNone/>
            </a:pPr>
            <a:r>
              <a:rPr lang="en-US" sz="2400" b="1" dirty="0">
                <a:solidFill>
                  <a:srgbClr val="1E8E5A"/>
                </a:solidFill>
                <a:latin typeface="Yu Gothic" pitchFamily="34" charset="0"/>
                <a:ea typeface="Yu Gothic" pitchFamily="34" charset="-122"/>
                <a:cs typeface="Yu Gothic" pitchFamily="34" charset="-120"/>
              </a:rPr>
              <a:t>10m</a:t>
            </a:r>
            <a:endParaRPr lang="en-US" sz="2400" dirty="0"/>
          </a:p>
        </p:txBody>
      </p:sp>
      <p:sp>
        <p:nvSpPr>
          <p:cNvPr id="16" name="Text 14"/>
          <p:cNvSpPr/>
          <p:nvPr/>
        </p:nvSpPr>
        <p:spPr>
          <a:xfrm>
            <a:off x="9784080" y="1645920"/>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移動速度</a:t>
            </a:r>
            <a:endParaRPr lang="en-US" sz="880" dirty="0"/>
          </a:p>
        </p:txBody>
      </p:sp>
      <p:sp>
        <p:nvSpPr>
          <p:cNvPr id="17" name="Text 15"/>
          <p:cNvSpPr/>
          <p:nvPr/>
        </p:nvSpPr>
        <p:spPr>
          <a:xfrm>
            <a:off x="7845552" y="2743200"/>
            <a:ext cx="1920240" cy="438912"/>
          </a:xfrm>
          <a:prstGeom prst="rect">
            <a:avLst/>
          </a:prstGeom>
          <a:noFill/>
          <a:ln/>
        </p:spPr>
        <p:txBody>
          <a:bodyPr wrap="square" lIns="0" tIns="0" rIns="0" bIns="0" rtlCol="0" anchor="ctr">
            <a:normAutofit/>
          </a:bodyPr>
          <a:lstStyle/>
          <a:p>
            <a:pPr marL="0" indent="0">
              <a:buNone/>
            </a:pPr>
            <a:r>
              <a:rPr lang="en-US" sz="2400" b="1" dirty="0">
                <a:solidFill>
                  <a:srgbClr val="F07C24"/>
                </a:solidFill>
                <a:latin typeface="Yu Gothic" pitchFamily="34" charset="0"/>
                <a:ea typeface="Yu Gothic" pitchFamily="34" charset="-122"/>
                <a:cs typeface="Yu Gothic" pitchFamily="34" charset="-120"/>
              </a:rPr>
              <a:t>100</a:t>
            </a:r>
            <a:endParaRPr lang="en-US" sz="2400" dirty="0"/>
          </a:p>
        </p:txBody>
      </p:sp>
      <p:sp>
        <p:nvSpPr>
          <p:cNvPr id="18" name="Text 16"/>
          <p:cNvSpPr/>
          <p:nvPr/>
        </p:nvSpPr>
        <p:spPr>
          <a:xfrm>
            <a:off x="7845552" y="3182112"/>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記録間隔</a:t>
            </a:r>
            <a:endParaRPr lang="en-US" sz="880" dirty="0"/>
          </a:p>
        </p:txBody>
      </p:sp>
      <p:sp>
        <p:nvSpPr>
          <p:cNvPr id="19" name="Text 17"/>
          <p:cNvSpPr/>
          <p:nvPr/>
        </p:nvSpPr>
        <p:spPr>
          <a:xfrm>
            <a:off x="9784080" y="2743200"/>
            <a:ext cx="1920240" cy="438912"/>
          </a:xfrm>
          <a:prstGeom prst="rect">
            <a:avLst/>
          </a:prstGeom>
          <a:noFill/>
          <a:ln/>
        </p:spPr>
        <p:txBody>
          <a:bodyPr wrap="square" lIns="0" tIns="0" rIns="0" bIns="0" rtlCol="0" anchor="ctr">
            <a:normAutofit/>
          </a:bodyPr>
          <a:lstStyle/>
          <a:p>
            <a:pPr marL="0" indent="0">
              <a:buNone/>
            </a:pPr>
            <a:r>
              <a:rPr lang="en-US" sz="2400" b="1" dirty="0">
                <a:solidFill>
                  <a:srgbClr val="2F6BFF"/>
                </a:solidFill>
                <a:latin typeface="Yu Gothic" pitchFamily="34" charset="0"/>
                <a:ea typeface="Yu Gothic" pitchFamily="34" charset="-122"/>
                <a:cs typeface="Yu Gothic" pitchFamily="34" charset="-120"/>
              </a:rPr>
              <a:t>N=100</a:t>
            </a:r>
            <a:endParaRPr lang="en-US" sz="2400" dirty="0"/>
          </a:p>
        </p:txBody>
      </p:sp>
      <p:sp>
        <p:nvSpPr>
          <p:cNvPr id="20" name="Text 18"/>
          <p:cNvSpPr/>
          <p:nvPr/>
        </p:nvSpPr>
        <p:spPr>
          <a:xfrm>
            <a:off x="9784080" y="3182112"/>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限定領域実験</a:t>
            </a:r>
            <a:endParaRPr lang="en-US" sz="880" dirty="0"/>
          </a:p>
        </p:txBody>
      </p:sp>
      <p:sp>
        <p:nvSpPr>
          <p:cNvPr id="21" name="Text 19"/>
          <p:cNvSpPr/>
          <p:nvPr/>
        </p:nvSpPr>
        <p:spPr>
          <a:xfrm>
            <a:off x="7845552" y="4681728"/>
            <a:ext cx="3611880" cy="530352"/>
          </a:xfrm>
          <a:prstGeom prst="rect">
            <a:avLst/>
          </a:prstGeom>
          <a:noFill/>
          <a:ln/>
        </p:spPr>
        <p:txBody>
          <a:bodyPr wrap="square" lIns="0" tIns="0" rIns="0" bIns="0" rtlCol="0" anchor="ctr">
            <a:normAutofit/>
          </a:bodyPr>
          <a:lstStyle/>
          <a:p>
            <a:pPr marL="0" indent="0">
              <a:buNone/>
            </a:pPr>
            <a:r>
              <a:rPr lang="en-US" sz="1300" b="1" dirty="0">
                <a:solidFill>
                  <a:srgbClr val="1F2933"/>
                </a:solidFill>
                <a:latin typeface="Yu Gothic" pitchFamily="34" charset="0"/>
                <a:ea typeface="Yu Gothic" pitchFamily="34" charset="-122"/>
                <a:cs typeface="Yu Gothic" pitchFamily="34" charset="-120"/>
              </a:rPr>
              <a:t>要点: T0のみの場合と、受信済み端末も送信する場合を比較する。</a:t>
            </a:r>
            <a:endParaRPr lang="en-US" sz="1300" dirty="0"/>
          </a:p>
        </p:txBody>
      </p:sp>
      <p:sp>
        <p:nvSpPr>
          <p:cNvPr id="22" name="Text 20"/>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実験設定</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シミュレーションの流れ</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端末をランダム配置し、Random Waypoint モデルで移動させながら受信済み端末数を記録する。</a:t>
            </a:r>
            <a:endParaRPr lang="en-US" sz="1050" dirty="0"/>
          </a:p>
        </p:txBody>
      </p:sp>
      <p:sp>
        <p:nvSpPr>
          <p:cNvPr id="6" name="Text 4"/>
          <p:cNvSpPr/>
          <p:nvPr/>
        </p:nvSpPr>
        <p:spPr>
          <a:xfrm>
            <a:off x="685800" y="1691640"/>
            <a:ext cx="493776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実装している処理</a:t>
            </a:r>
            <a:endParaRPr lang="en-US" sz="1200" dirty="0"/>
          </a:p>
        </p:txBody>
      </p:sp>
      <p:sp>
        <p:nvSpPr>
          <p:cNvPr id="7" name="Text 5"/>
          <p:cNvSpPr/>
          <p:nvPr/>
        </p:nvSpPr>
        <p:spPr>
          <a:xfrm>
            <a:off x="685800" y="2075688"/>
            <a:ext cx="4937760" cy="345643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1000m x 1000m の領域に端末を配置する</a:t>
            </a:r>
            <a:endParaRPr lang="en-US" sz="1300" dirty="0"/>
          </a:p>
          <a:p>
            <a:r>
              <a:rPr lang="en-US" sz="1300" dirty="0">
                <a:solidFill>
                  <a:srgbClr val="1F2933"/>
                </a:solidFill>
                <a:latin typeface="Yu Gothic" pitchFamily="34" charset="0"/>
                <a:ea typeface="Yu Gothic" pitchFamily="34" charset="-122"/>
                <a:cs typeface="Yu Gothic" pitchFamily="34" charset="-120"/>
              </a:rPr>
              <a:t>端末同士が近づきすぎないよう最小距離を設定する</a:t>
            </a:r>
            <a:endParaRPr lang="en-US" sz="1300" dirty="0"/>
          </a:p>
          <a:p>
            <a:r>
              <a:rPr lang="en-US" sz="1300" dirty="0">
                <a:solidFill>
                  <a:srgbClr val="1F2933"/>
                </a:solidFill>
                <a:latin typeface="Yu Gothic" pitchFamily="34" charset="0"/>
                <a:ea typeface="Yu Gothic" pitchFamily="34" charset="-122"/>
                <a:cs typeface="Yu Gothic" pitchFamily="34" charset="-120"/>
              </a:rPr>
              <a:t>各端末はランダムな目的地へ等速 10m/単位時間で移動する</a:t>
            </a:r>
            <a:endParaRPr lang="en-US" sz="1300" dirty="0"/>
          </a:p>
          <a:p>
            <a:r>
              <a:rPr lang="en-US" sz="1300" dirty="0">
                <a:solidFill>
                  <a:srgbClr val="1F2933"/>
                </a:solidFill>
                <a:latin typeface="Yu Gothic" pitchFamily="34" charset="0"/>
                <a:ea typeface="Yu Gothic" pitchFamily="34" charset="-122"/>
                <a:cs typeface="Yu Gothic" pitchFamily="34" charset="-120"/>
              </a:rPr>
              <a:t>情報を持つ T0 から一定距離以内に入ると受信済みになる</a:t>
            </a:r>
            <a:endParaRPr lang="en-US" sz="1300" dirty="0"/>
          </a:p>
          <a:p>
            <a:r>
              <a:rPr lang="en-US" sz="1300" dirty="0">
                <a:solidFill>
                  <a:srgbClr val="1F2933"/>
                </a:solidFill>
                <a:latin typeface="Yu Gothic" pitchFamily="34" charset="0"/>
                <a:ea typeface="Yu Gothic" pitchFamily="34" charset="-122"/>
                <a:cs typeface="Yu Gothic" pitchFamily="34" charset="-120"/>
              </a:rPr>
              <a:t>受信済み端末も送信できる場合を別条件として比較する</a:t>
            </a:r>
            <a:endParaRPr lang="en-US" sz="1300" dirty="0"/>
          </a:p>
        </p:txBody>
      </p:sp>
      <p:sp>
        <p:nvSpPr>
          <p:cNvPr id="8" name="Shape 6"/>
          <p:cNvSpPr/>
          <p:nvPr/>
        </p:nvSpPr>
        <p:spPr>
          <a:xfrm>
            <a:off x="6172200" y="1591056"/>
            <a:ext cx="5257800" cy="4069080"/>
          </a:xfrm>
          <a:prstGeom prst="rect">
            <a:avLst/>
          </a:prstGeom>
          <a:solidFill>
            <a:srgbClr val="FFFFFF"/>
          </a:solidFill>
          <a:ln w="12700">
            <a:solidFill>
              <a:srgbClr val="D7DEE8"/>
            </a:solidFill>
            <a:prstDash val="solid"/>
          </a:ln>
        </p:spPr>
        <p:txBody>
          <a:bodyPr/>
          <a:lstStyle/>
          <a:p>
            <a:endParaRPr lang="ja-JP" altLang="en-US"/>
          </a:p>
        </p:txBody>
      </p:sp>
      <p:sp>
        <p:nvSpPr>
          <p:cNvPr id="9" name="Shape 7"/>
          <p:cNvSpPr/>
          <p:nvPr/>
        </p:nvSpPr>
        <p:spPr>
          <a:xfrm>
            <a:off x="6537960" y="187452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0" name="Text 8"/>
          <p:cNvSpPr/>
          <p:nvPr/>
        </p:nvSpPr>
        <p:spPr>
          <a:xfrm>
            <a:off x="6537960" y="197510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1" name="Text 9"/>
          <p:cNvSpPr/>
          <p:nvPr/>
        </p:nvSpPr>
        <p:spPr>
          <a:xfrm>
            <a:off x="7114032" y="184708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初期配置</a:t>
            </a:r>
            <a:endParaRPr lang="en-US" sz="1200" dirty="0"/>
          </a:p>
        </p:txBody>
      </p:sp>
      <p:sp>
        <p:nvSpPr>
          <p:cNvPr id="12" name="Text 10"/>
          <p:cNvSpPr/>
          <p:nvPr/>
        </p:nvSpPr>
        <p:spPr>
          <a:xfrm>
            <a:off x="7114032" y="213055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20点をランダム配置</a:t>
            </a:r>
            <a:endParaRPr lang="en-US" sz="950" dirty="0"/>
          </a:p>
        </p:txBody>
      </p:sp>
      <p:sp>
        <p:nvSpPr>
          <p:cNvPr id="13" name="Shape 11"/>
          <p:cNvSpPr/>
          <p:nvPr/>
        </p:nvSpPr>
        <p:spPr>
          <a:xfrm>
            <a:off x="6537960" y="269748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4" name="Text 12"/>
          <p:cNvSpPr/>
          <p:nvPr/>
        </p:nvSpPr>
        <p:spPr>
          <a:xfrm>
            <a:off x="6537960" y="279806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15" name="Text 13"/>
          <p:cNvSpPr/>
          <p:nvPr/>
        </p:nvSpPr>
        <p:spPr>
          <a:xfrm>
            <a:off x="7114032" y="267004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移動</a:t>
            </a:r>
            <a:endParaRPr lang="en-US" sz="1200" dirty="0"/>
          </a:p>
        </p:txBody>
      </p:sp>
      <p:sp>
        <p:nvSpPr>
          <p:cNvPr id="16" name="Text 14"/>
          <p:cNvSpPr/>
          <p:nvPr/>
        </p:nvSpPr>
        <p:spPr>
          <a:xfrm>
            <a:off x="7114032" y="295351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1000単位時間くり返し</a:t>
            </a:r>
            <a:endParaRPr lang="en-US" sz="950" dirty="0"/>
          </a:p>
        </p:txBody>
      </p:sp>
      <p:sp>
        <p:nvSpPr>
          <p:cNvPr id="17" name="Shape 15"/>
          <p:cNvSpPr/>
          <p:nvPr/>
        </p:nvSpPr>
        <p:spPr>
          <a:xfrm>
            <a:off x="6537960" y="352044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8" name="Text 16"/>
          <p:cNvSpPr/>
          <p:nvPr/>
        </p:nvSpPr>
        <p:spPr>
          <a:xfrm>
            <a:off x="6537960" y="362102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9" name="Text 17"/>
          <p:cNvSpPr/>
          <p:nvPr/>
        </p:nvSpPr>
        <p:spPr>
          <a:xfrm>
            <a:off x="7114032" y="349300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通信判定</a:t>
            </a:r>
            <a:endParaRPr lang="en-US" sz="1200" dirty="0"/>
          </a:p>
        </p:txBody>
      </p:sp>
      <p:sp>
        <p:nvSpPr>
          <p:cNvPr id="20" name="Text 18"/>
          <p:cNvSpPr/>
          <p:nvPr/>
        </p:nvSpPr>
        <p:spPr>
          <a:xfrm>
            <a:off x="7114032" y="377647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距離条件と領域条件を確認</a:t>
            </a:r>
            <a:endParaRPr lang="en-US" sz="950" dirty="0"/>
          </a:p>
        </p:txBody>
      </p:sp>
      <p:sp>
        <p:nvSpPr>
          <p:cNvPr id="21" name="Shape 19"/>
          <p:cNvSpPr/>
          <p:nvPr/>
        </p:nvSpPr>
        <p:spPr>
          <a:xfrm>
            <a:off x="6537960" y="434340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22" name="Text 20"/>
          <p:cNvSpPr/>
          <p:nvPr/>
        </p:nvSpPr>
        <p:spPr>
          <a:xfrm>
            <a:off x="6537960" y="444398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4</a:t>
            </a:r>
            <a:endParaRPr lang="en-US" sz="900" dirty="0"/>
          </a:p>
        </p:txBody>
      </p:sp>
      <p:sp>
        <p:nvSpPr>
          <p:cNvPr id="23" name="Text 21"/>
          <p:cNvSpPr/>
          <p:nvPr/>
        </p:nvSpPr>
        <p:spPr>
          <a:xfrm>
            <a:off x="7114032" y="431596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集計</a:t>
            </a:r>
            <a:endParaRPr lang="en-US" sz="1200" dirty="0"/>
          </a:p>
        </p:txBody>
      </p:sp>
      <p:sp>
        <p:nvSpPr>
          <p:cNvPr id="24" name="Text 22"/>
          <p:cNvSpPr/>
          <p:nvPr/>
        </p:nvSpPr>
        <p:spPr>
          <a:xfrm>
            <a:off x="7114032" y="459943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100, 200, ... , 1000で記録</a:t>
            </a:r>
            <a:endParaRPr lang="en-US" sz="950" dirty="0"/>
          </a:p>
        </p:txBody>
      </p:sp>
      <p:sp>
        <p:nvSpPr>
          <p:cNvPr id="25" name="Text 23"/>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実験1</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全領域での通信距離比較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通信距離が長いほどT0のみでも受信数は増え、拡散ありでは短時間で全端末に到達しやすい。</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shigatsu/noncomm.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04495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50mではT0のみの到達が遅く、最終16/20</a:t>
            </a:r>
            <a:endParaRPr lang="en-US" sz="1300" dirty="0"/>
          </a:p>
          <a:p>
            <a:r>
              <a:rPr lang="en-US" sz="1300" dirty="0">
                <a:solidFill>
                  <a:srgbClr val="1F2933"/>
                </a:solidFill>
                <a:latin typeface="Yu Gothic" pitchFamily="34" charset="0"/>
                <a:ea typeface="Yu Gothic" pitchFamily="34" charset="-122"/>
                <a:cs typeface="Yu Gothic" pitchFamily="34" charset="-120"/>
              </a:rPr>
              <a:t>100mではT0のみで最終18/20まで到達</a:t>
            </a:r>
            <a:endParaRPr lang="en-US" sz="1300" dirty="0"/>
          </a:p>
          <a:p>
            <a:r>
              <a:rPr lang="en-US" sz="1300" dirty="0">
                <a:solidFill>
                  <a:srgbClr val="1F2933"/>
                </a:solidFill>
                <a:latin typeface="Yu Gothic" pitchFamily="34" charset="0"/>
                <a:ea typeface="Yu Gothic" pitchFamily="34" charset="-122"/>
                <a:cs typeface="Yu Gothic" pitchFamily="34" charset="-120"/>
              </a:rPr>
              <a:t>150mではT0のみでも700時点で全端末が受信</a:t>
            </a:r>
            <a:endParaRPr lang="en-US" sz="1300" dirty="0"/>
          </a:p>
          <a:p>
            <a:r>
              <a:rPr lang="en-US" sz="1300" dirty="0">
                <a:solidFill>
                  <a:srgbClr val="1F2933"/>
                </a:solidFill>
                <a:latin typeface="Yu Gothic" pitchFamily="34" charset="0"/>
                <a:ea typeface="Yu Gothic" pitchFamily="34" charset="-122"/>
                <a:cs typeface="Yu Gothic" pitchFamily="34" charset="-120"/>
              </a:rPr>
              <a:t>拡散ありでは50mでも300時点で20/20に到達</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実験2</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通信可能領域を中央に限定した比較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通信できる場所を中央に限定すると、領域が小さいほどT0のみの到達数が大きく下がる。</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shigatsu/madearea1.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04495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全領域ではT0のみでも最終98/100</a:t>
            </a:r>
            <a:endParaRPr lang="en-US" sz="1300" dirty="0"/>
          </a:p>
          <a:p>
            <a:r>
              <a:rPr lang="en-US" sz="1300" dirty="0">
                <a:solidFill>
                  <a:srgbClr val="1F2933"/>
                </a:solidFill>
                <a:latin typeface="Yu Gothic" pitchFamily="34" charset="0"/>
                <a:ea typeface="Yu Gothic" pitchFamily="34" charset="-122"/>
                <a:cs typeface="Yu Gothic" pitchFamily="34" charset="-120"/>
              </a:rPr>
              <a:t>100x100領域ではT0のみが最終14/100</a:t>
            </a:r>
            <a:endParaRPr lang="en-US" sz="1300" dirty="0"/>
          </a:p>
          <a:p>
            <a:r>
              <a:rPr lang="en-US" sz="1300" dirty="0">
                <a:solidFill>
                  <a:srgbClr val="1F2933"/>
                </a:solidFill>
                <a:latin typeface="Yu Gothic" pitchFamily="34" charset="0"/>
                <a:ea typeface="Yu Gothic" pitchFamily="34" charset="-122"/>
                <a:cs typeface="Yu Gothic" pitchFamily="34" charset="-120"/>
              </a:rPr>
              <a:t>200x200以上では拡散ありで100/100に到達</a:t>
            </a:r>
            <a:endParaRPr lang="en-US" sz="1300" dirty="0"/>
          </a:p>
          <a:p>
            <a:r>
              <a:rPr lang="en-US" sz="1300" dirty="0">
                <a:solidFill>
                  <a:srgbClr val="1F2933"/>
                </a:solidFill>
                <a:latin typeface="Yu Gothic" pitchFamily="34" charset="0"/>
                <a:ea typeface="Yu Gothic" pitchFamily="34" charset="-122"/>
                <a:cs typeface="Yu Gothic" pitchFamily="34" charset="-120"/>
              </a:rPr>
              <a:t>限定領域ではT0が領域内にいる時間が重要になる</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実験3</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通信領域サイズを変えた比較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中央領域を広くすると、拡散ありではより早く全体へ到達する。</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shigatsu/noncomm2.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22783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100x100でも拡散ありは最終78/100まで到達</a:t>
            </a:r>
            <a:endParaRPr lang="en-US" sz="1300" dirty="0"/>
          </a:p>
          <a:p>
            <a:r>
              <a:rPr lang="en-US" sz="1300" dirty="0">
                <a:solidFill>
                  <a:srgbClr val="1F2933"/>
                </a:solidFill>
                <a:latin typeface="Yu Gothic" pitchFamily="34" charset="0"/>
                <a:ea typeface="Yu Gothic" pitchFamily="34" charset="-122"/>
                <a:cs typeface="Yu Gothic" pitchFamily="34" charset="-120"/>
              </a:rPr>
              <a:t>200x200以上では拡散ありが最終100/100</a:t>
            </a:r>
            <a:endParaRPr lang="en-US" sz="1300" dirty="0"/>
          </a:p>
          <a:p>
            <a:r>
              <a:rPr lang="en-US" sz="1300" dirty="0">
                <a:solidFill>
                  <a:srgbClr val="1F2933"/>
                </a:solidFill>
                <a:latin typeface="Yu Gothic" pitchFamily="34" charset="0"/>
                <a:ea typeface="Yu Gothic" pitchFamily="34" charset="-122"/>
                <a:cs typeface="Yu Gothic" pitchFamily="34" charset="-120"/>
              </a:rPr>
              <a:t>T0のみは領域サイズの影響を受けやすい</a:t>
            </a:r>
            <a:endParaRPr lang="en-US" sz="1300" dirty="0"/>
          </a:p>
          <a:p>
            <a:r>
              <a:rPr lang="en-US" sz="1300" dirty="0">
                <a:solidFill>
                  <a:srgbClr val="1F2933"/>
                </a:solidFill>
                <a:latin typeface="Yu Gothic" pitchFamily="34" charset="0"/>
                <a:ea typeface="Yu Gothic" pitchFamily="34" charset="-122"/>
                <a:cs typeface="Yu Gothic" pitchFamily="34" charset="-120"/>
              </a:rPr>
              <a:t>250x250のT0のみが一時的に低いのは乱数配置の影響が考えられる</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実験4</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端末数を変えた比較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端末数が増えると、拡散ありでは受信済み端末が中継点となり高い受信率になりやすい。</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shigatsu/noncomm3.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36499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N=100以上では拡散ありがほぼ100%に到達</a:t>
            </a:r>
            <a:endParaRPr lang="en-US" sz="1300" dirty="0"/>
          </a:p>
          <a:p>
            <a:r>
              <a:rPr lang="en-US" sz="1300" dirty="0">
                <a:solidFill>
                  <a:srgbClr val="1F2933"/>
                </a:solidFill>
                <a:latin typeface="Yu Gothic" pitchFamily="34" charset="0"/>
                <a:ea typeface="Yu Gothic" pitchFamily="34" charset="-122"/>
                <a:cs typeface="Yu Gothic" pitchFamily="34" charset="-120"/>
              </a:rPr>
              <a:t>T0のみは端末数が増えても受信率は30〜44%程度</a:t>
            </a:r>
            <a:endParaRPr lang="en-US" sz="1300" dirty="0"/>
          </a:p>
          <a:p>
            <a:r>
              <a:rPr lang="en-US" sz="1300" dirty="0">
                <a:solidFill>
                  <a:srgbClr val="1F2933"/>
                </a:solidFill>
                <a:latin typeface="Yu Gothic" pitchFamily="34" charset="0"/>
                <a:ea typeface="Yu Gothic" pitchFamily="34" charset="-122"/>
                <a:cs typeface="Yu Gothic" pitchFamily="34" charset="-120"/>
              </a:rPr>
              <a:t>N=50の拡散ありだけ低い結果は、初期配置や移動経路の乱数影響が大きい</a:t>
            </a:r>
            <a:endParaRPr lang="en-US" sz="1300" dirty="0"/>
          </a:p>
          <a:p>
            <a:r>
              <a:rPr lang="en-US" sz="1300" dirty="0">
                <a:solidFill>
                  <a:srgbClr val="1F2933"/>
                </a:solidFill>
                <a:latin typeface="Yu Gothic" pitchFamily="34" charset="0"/>
                <a:ea typeface="Yu Gothic" pitchFamily="34" charset="-122"/>
                <a:cs typeface="Yu Gothic" pitchFamily="34" charset="-120"/>
              </a:rPr>
              <a:t>複数回実行して平均値を取るとより安定した考察になる</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まとめ</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結果のまとめ</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通信範囲、通信可能領域、情報拡散の有無が受信済み端末数に大きく影響した。</a:t>
            </a:r>
            <a:endParaRPr lang="en-US" sz="1050" dirty="0"/>
          </a:p>
        </p:txBody>
      </p:sp>
      <p:sp>
        <p:nvSpPr>
          <p:cNvPr id="6" name="Text 4"/>
          <p:cNvSpPr/>
          <p:nvPr/>
        </p:nvSpPr>
        <p:spPr>
          <a:xfrm>
            <a:off x="685800" y="1627632"/>
            <a:ext cx="4389120" cy="310896"/>
          </a:xfrm>
          <a:prstGeom prst="rect">
            <a:avLst/>
          </a:prstGeom>
          <a:noFill/>
          <a:ln/>
        </p:spPr>
        <p:txBody>
          <a:bodyPr wrap="square" lIns="0" tIns="0" rIns="0" bIns="0" rtlCol="0" anchor="ctr"/>
          <a:lstStyle/>
          <a:p>
            <a:pPr marL="0" indent="0">
              <a:buNone/>
            </a:pPr>
            <a:r>
              <a:rPr lang="en-US" sz="1500" b="1" dirty="0">
                <a:solidFill>
                  <a:srgbClr val="1F2933"/>
                </a:solidFill>
                <a:latin typeface="Yu Gothic" pitchFamily="34" charset="0"/>
                <a:ea typeface="Yu Gothic" pitchFamily="34" charset="-122"/>
                <a:cs typeface="Yu Gothic" pitchFamily="34" charset="-120"/>
              </a:rPr>
              <a:t>分かったこと</a:t>
            </a:r>
            <a:endParaRPr lang="en-US" sz="1500" dirty="0"/>
          </a:p>
        </p:txBody>
      </p:sp>
      <p:sp>
        <p:nvSpPr>
          <p:cNvPr id="7" name="Text 5"/>
          <p:cNvSpPr/>
          <p:nvPr/>
        </p:nvSpPr>
        <p:spPr>
          <a:xfrm>
            <a:off x="868680" y="2148840"/>
            <a:ext cx="4983480" cy="3200400"/>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通信距離が長いほどT0のみでも情報が届きやすい</a:t>
            </a:r>
            <a:endParaRPr lang="en-US" sz="1300" dirty="0"/>
          </a:p>
          <a:p>
            <a:r>
              <a:rPr lang="en-US" sz="1300" dirty="0">
                <a:solidFill>
                  <a:srgbClr val="1F2933"/>
                </a:solidFill>
                <a:latin typeface="Yu Gothic" pitchFamily="34" charset="0"/>
                <a:ea typeface="Yu Gothic" pitchFamily="34" charset="-122"/>
                <a:cs typeface="Yu Gothic" pitchFamily="34" charset="-120"/>
              </a:rPr>
              <a:t>受信済み端末も送信すると、到達速度と最終受信数が大きく改善する</a:t>
            </a:r>
            <a:endParaRPr lang="en-US" sz="1300" dirty="0"/>
          </a:p>
          <a:p>
            <a:r>
              <a:rPr lang="en-US" sz="1300" dirty="0">
                <a:solidFill>
                  <a:srgbClr val="1F2933"/>
                </a:solidFill>
                <a:latin typeface="Yu Gothic" pitchFamily="34" charset="0"/>
                <a:ea typeface="Yu Gothic" pitchFamily="34" charset="-122"/>
                <a:cs typeface="Yu Gothic" pitchFamily="34" charset="-120"/>
              </a:rPr>
              <a:t>通信可能領域を中央に限定すると、領域サイズが結果を左右する</a:t>
            </a:r>
            <a:endParaRPr lang="en-US" sz="1300" dirty="0"/>
          </a:p>
          <a:p>
            <a:r>
              <a:rPr lang="en-US" sz="1300" dirty="0">
                <a:solidFill>
                  <a:srgbClr val="1F2933"/>
                </a:solidFill>
                <a:latin typeface="Yu Gothic" pitchFamily="34" charset="0"/>
                <a:ea typeface="Yu Gothic" pitchFamily="34" charset="-122"/>
                <a:cs typeface="Yu Gothic" pitchFamily="34" charset="-120"/>
              </a:rPr>
              <a:t>端末数が増えると、拡散ありでは中継機会が増えて高い受信率になりやすい</a:t>
            </a:r>
            <a:endParaRPr lang="en-US" sz="1300" dirty="0"/>
          </a:p>
        </p:txBody>
      </p:sp>
      <p:sp>
        <p:nvSpPr>
          <p:cNvPr id="8" name="Shape 6"/>
          <p:cNvSpPr/>
          <p:nvPr/>
        </p:nvSpPr>
        <p:spPr>
          <a:xfrm>
            <a:off x="6537960" y="1572768"/>
            <a:ext cx="4343400" cy="3520440"/>
          </a:xfrm>
          <a:prstGeom prst="rect">
            <a:avLst/>
          </a:prstGeom>
          <a:solidFill>
            <a:srgbClr val="FFFFFF"/>
          </a:solidFill>
          <a:ln w="12700">
            <a:solidFill>
              <a:srgbClr val="D7DEE8"/>
            </a:solidFill>
            <a:prstDash val="solid"/>
          </a:ln>
        </p:spPr>
        <p:txBody>
          <a:bodyPr/>
          <a:lstStyle/>
          <a:p>
            <a:endParaRPr lang="ja-JP" altLang="en-US"/>
          </a:p>
        </p:txBody>
      </p:sp>
      <p:sp>
        <p:nvSpPr>
          <p:cNvPr id="9" name="Text 7"/>
          <p:cNvSpPr/>
          <p:nvPr/>
        </p:nvSpPr>
        <p:spPr>
          <a:xfrm>
            <a:off x="6812280" y="1901952"/>
            <a:ext cx="2926080" cy="256032"/>
          </a:xfrm>
          <a:prstGeom prst="rect">
            <a:avLst/>
          </a:prstGeom>
          <a:noFill/>
          <a:ln/>
        </p:spPr>
        <p:txBody>
          <a:bodyPr wrap="square" lIns="0" tIns="0" rIns="0" bIns="0" rtlCol="0" anchor="ctr"/>
          <a:lstStyle/>
          <a:p>
            <a:pPr marL="0" indent="0">
              <a:buNone/>
            </a:pPr>
            <a:r>
              <a:rPr lang="en-US" sz="1400" b="1" dirty="0">
                <a:solidFill>
                  <a:srgbClr val="1F2933"/>
                </a:solidFill>
                <a:latin typeface="Yu Gothic" pitchFamily="34" charset="0"/>
                <a:ea typeface="Yu Gothic" pitchFamily="34" charset="-122"/>
                <a:cs typeface="Yu Gothic" pitchFamily="34" charset="-120"/>
              </a:rPr>
              <a:t>次に改善できる点</a:t>
            </a:r>
            <a:endParaRPr lang="en-US" sz="1400" dirty="0"/>
          </a:p>
        </p:txBody>
      </p:sp>
      <p:sp>
        <p:nvSpPr>
          <p:cNvPr id="10" name="Text 8"/>
          <p:cNvSpPr/>
          <p:nvPr/>
        </p:nvSpPr>
        <p:spPr>
          <a:xfrm>
            <a:off x="6812280" y="2423160"/>
            <a:ext cx="3703320" cy="1920240"/>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乱数シードを固定して再現性を上げる</a:t>
            </a:r>
            <a:endParaRPr lang="en-US" sz="1300" dirty="0"/>
          </a:p>
          <a:p>
            <a:r>
              <a:rPr lang="en-US" sz="1300" dirty="0">
                <a:solidFill>
                  <a:srgbClr val="1F2933"/>
                </a:solidFill>
                <a:latin typeface="Yu Gothic" pitchFamily="34" charset="0"/>
                <a:ea typeface="Yu Gothic" pitchFamily="34" charset="-122"/>
                <a:cs typeface="Yu Gothic" pitchFamily="34" charset="-120"/>
              </a:rPr>
              <a:t>各条件を複数回試し、平均値とばらつきを出す</a:t>
            </a:r>
            <a:endParaRPr lang="en-US" sz="1300" dirty="0"/>
          </a:p>
          <a:p>
            <a:r>
              <a:rPr lang="en-US" sz="1300" dirty="0">
                <a:solidFill>
                  <a:srgbClr val="1F2933"/>
                </a:solidFill>
                <a:latin typeface="Yu Gothic" pitchFamily="34" charset="0"/>
                <a:ea typeface="Yu Gothic" pitchFamily="34" charset="-122"/>
                <a:cs typeface="Yu Gothic" pitchFamily="34" charset="-120"/>
              </a:rPr>
              <a:t>グラフを画像ではなく表データから作り直す</a:t>
            </a:r>
            <a:endParaRPr lang="en-US" sz="1300" dirty="0"/>
          </a:p>
        </p:txBody>
      </p:sp>
      <p:sp>
        <p:nvSpPr>
          <p:cNvPr id="11" name="Text 9"/>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244</Words>
  <Application>Microsoft Office PowerPoint</Application>
  <PresentationFormat>ワイド画面</PresentationFormat>
  <Paragraphs>94</Paragraphs>
  <Slides>7</Slides>
  <Notes>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情報通信シミュレーション課題</dc:title>
  <dc:subject>Information communication simulation</dc:subject>
  <dc:creator>Codex</dc:creator>
  <cp:lastModifiedBy>庄司　和哉</cp:lastModifiedBy>
  <cp:revision>1</cp:revision>
  <dcterms:created xsi:type="dcterms:W3CDTF">2026-05-13T09:27:57Z</dcterms:created>
  <dcterms:modified xsi:type="dcterms:W3CDTF">2026-05-13T09:41:31Z</dcterms:modified>
</cp:coreProperties>
</file>